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718038-56AA-4A32-97CD-5F97A3BD7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BCB757-3AAE-4CCE-867A-B73BC8574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2CFCEF-ABC2-40B6-A584-DE5648B7D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10F9-DDC1-41B7-9DF5-1EE482492C92}" type="datetimeFigureOut">
              <a:rPr lang="es-CO" smtClean="0"/>
              <a:t>16/09/2025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1CEDB1-4142-42E1-B481-AEE11EAC1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9FEBAD-ECB1-49A5-8484-75B8CE16A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2EE92-017A-45B0-A8B7-D16D3B5BC5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0365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954F89-EAC7-4682-B137-048B5CD65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12A8C7-5FB5-4B7C-BAC1-FF8BE9FF8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98E1B0-39CA-4EF0-AB2F-15BEE168D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10F9-DDC1-41B7-9DF5-1EE482492C92}" type="datetimeFigureOut">
              <a:rPr lang="es-CO" smtClean="0"/>
              <a:t>16/09/2025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7B91A9-FE22-4759-9500-1374C3261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8100B9-14FB-4B9F-8E3C-F725BE2C8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2EE92-017A-45B0-A8B7-D16D3B5BC5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26154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E55316-3CC4-42B0-BFA6-0273DB53B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13FE0D-BD95-42B1-84D9-92EE7BFB9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8A619E-5262-463B-A0BC-E810AB09D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10F9-DDC1-41B7-9DF5-1EE482492C92}" type="datetimeFigureOut">
              <a:rPr lang="es-CO" smtClean="0"/>
              <a:t>16/09/2025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50F588-3A7D-44F9-BB11-706B97B83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7E1FEA-15A8-4A4A-873D-3578984A1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2EE92-017A-45B0-A8B7-D16D3B5BC5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588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5D7F-2404-4247-87C5-3D7B76C18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F7E6D5-6F2D-4A3B-9867-476C14CBC7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880B89D-95A4-46D7-9DAD-D42714D1A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85BC0E6-8EC9-4E10-AF2D-85518687C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10F9-DDC1-41B7-9DF5-1EE482492C92}" type="datetimeFigureOut">
              <a:rPr lang="es-CO" smtClean="0"/>
              <a:t>16/09/2025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978D040-A038-4BE3-8B6B-661A47DB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55039AE-7FF8-4018-B2D0-4DD902C52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2EE92-017A-45B0-A8B7-D16D3B5BC5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3075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D4D23A-0627-4592-BD70-4F9F4D3CA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0922A42-4FB4-4CFB-8411-4EE5E3488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25F5E45-6597-4CD2-8B50-EEBBF9DB7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7BA09DC-055B-4327-A6D5-3A5DE6F8D2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093E705-95D0-4D40-BE7A-53DA5B8A1B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97F5EC2-864B-4AF8-8B6A-84637660C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10F9-DDC1-41B7-9DF5-1EE482492C92}" type="datetimeFigureOut">
              <a:rPr lang="es-CO" smtClean="0"/>
              <a:t>16/09/2025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516A243-8AA5-4552-A3B2-B0596FE1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59D9E0D-197C-4DF1-9969-C64F22A14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2EE92-017A-45B0-A8B7-D16D3B5BC5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5878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19FA4-1F0D-4355-852E-C0E29EE1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75333A2-DF68-4BBB-9707-181F8D42C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10F9-DDC1-41B7-9DF5-1EE482492C92}" type="datetimeFigureOut">
              <a:rPr lang="es-CO" smtClean="0"/>
              <a:t>16/09/2025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7D024A6-8C30-4B27-816B-15116C664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D2A8B9-B445-4817-BE3E-2932EDD36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2EE92-017A-45B0-A8B7-D16D3B5BC5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3473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443AC6A-AA66-4D20-BA6F-3C02A2D9D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10F9-DDC1-41B7-9DF5-1EE482492C92}" type="datetimeFigureOut">
              <a:rPr lang="es-CO" smtClean="0"/>
              <a:t>16/09/2025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4617545-473F-4752-8CB0-25735F668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DEAFFA-B729-49B5-BD04-8C2B06605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2EE92-017A-45B0-A8B7-D16D3B5BC5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61941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BCFECA-A396-4A17-A350-B6FC029C7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3D794A-CFF6-426A-8505-B68E2C7CE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CF5123-74AC-49E7-B10C-ECD2C8F8F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6AA722-7FD0-474D-B334-9495CFD73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10F9-DDC1-41B7-9DF5-1EE482492C92}" type="datetimeFigureOut">
              <a:rPr lang="es-CO" smtClean="0"/>
              <a:t>16/09/2025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E0D532-BFEB-4C7B-AFA2-88CA1F799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9517FE2-5645-469C-A679-7F80AFD7E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2EE92-017A-45B0-A8B7-D16D3B5BC5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9339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3EE25B-8596-4793-85D2-AA093C83D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DBBA5FC-89AF-4D81-840D-05F84EB21E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14DB42-B4CA-4C9C-82BA-D4C792131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9A9F9C6-2F5A-4938-A6B5-D2054C3C6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10F9-DDC1-41B7-9DF5-1EE482492C92}" type="datetimeFigureOut">
              <a:rPr lang="es-CO" smtClean="0"/>
              <a:t>16/09/2025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01DE3C-0A49-46B4-AFD1-362BE0832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CF7FD9-31C2-48C7-9435-36A811B16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2EE92-017A-45B0-A8B7-D16D3B5BC5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8711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0E459C-10CB-4290-9DE1-67046EF3A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AFBED84-A3C2-4D21-B376-F2F19DE33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E63FC1-A1B3-46AE-95FD-FC2F08BE7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10F9-DDC1-41B7-9DF5-1EE482492C92}" type="datetimeFigureOut">
              <a:rPr lang="es-CO" smtClean="0"/>
              <a:t>16/09/2025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F561B1-A172-4925-A468-7C1B83B54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8FAE2B-E464-4D6A-869C-FFDC54D70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2EE92-017A-45B0-A8B7-D16D3B5BC5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8163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5B76311-C47F-402F-BCC9-8DA18C2F61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BAD6DC8-0B66-4961-A037-3A8256388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F29AE7-18CE-4AB8-B286-6F4B13CB3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10F9-DDC1-41B7-9DF5-1EE482492C92}" type="datetimeFigureOut">
              <a:rPr lang="es-CO" smtClean="0"/>
              <a:t>16/09/2025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A34780-518F-4BDE-ABF4-C9C047F6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A22356-50A0-4A5A-A611-4599074C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2EE92-017A-45B0-A8B7-D16D3B5BC5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65073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4C34590-E1C8-4F73-A3B7-E801A3939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44B3B5-C350-430E-858D-CCAC27B5B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D3AFD3-7FAF-49CA-9B0E-B705388518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B10F9-DDC1-41B7-9DF5-1EE482492C92}" type="datetimeFigureOut">
              <a:rPr lang="es-CO" smtClean="0"/>
              <a:t>16/09/2025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BCD448-37E3-4267-AFA9-C20ED0A2F1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2E4B75-1E20-4526-AA79-65608F087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A2EE92-017A-45B0-A8B7-D16D3B5BC5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2976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://en.wikipedia.org/wiki/John_Vlissides" TargetMode="External"/><Relationship Id="rId3" Type="http://schemas.openxmlformats.org/officeDocument/2006/relationships/hyperlink" Target="https://profeuttec.yolasite.com/resources/Patrones%20de%20dise%C3%B1o%20-%20Erich%20Gamma.pdf" TargetMode="External"/><Relationship Id="rId7" Type="http://schemas.openxmlformats.org/officeDocument/2006/relationships/hyperlink" Target="http://en.wikipedia.org/wiki/Ralph_Johnson_%28computer_scientist%29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2.com/cgi/wiki?RichardHelm" TargetMode="External"/><Relationship Id="rId5" Type="http://schemas.openxmlformats.org/officeDocument/2006/relationships/hyperlink" Target="http://es.wikipedia.org/wiki/Erich_Gamma" TargetMode="External"/><Relationship Id="rId10" Type="http://schemas.openxmlformats.org/officeDocument/2006/relationships/image" Target="../media/image4.png"/><Relationship Id="rId4" Type="http://schemas.openxmlformats.org/officeDocument/2006/relationships/image" Target="../media/image3.jpeg"/><Relationship Id="rId9" Type="http://schemas.openxmlformats.org/officeDocument/2006/relationships/hyperlink" Target="https://refactoring.guru/es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88C6A4-061A-45A3-B14A-F003BFD20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437" y="1765003"/>
            <a:ext cx="11841126" cy="2775099"/>
          </a:xfrm>
        </p:spPr>
        <p:txBody>
          <a:bodyPr>
            <a:noAutofit/>
          </a:bodyPr>
          <a:lstStyle/>
          <a:p>
            <a:r>
              <a:rPr lang="es-ES" sz="10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Desarrollo de Software Científico Colaborativo</a:t>
            </a:r>
            <a:endParaRPr lang="es-CO" sz="10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81201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DAD4ABC-7742-4669-B87F-497AA8823A29}"/>
              </a:ext>
            </a:extLst>
          </p:cNvPr>
          <p:cNvSpPr txBox="1"/>
          <p:nvPr/>
        </p:nvSpPr>
        <p:spPr>
          <a:xfrm>
            <a:off x="209993" y="384176"/>
            <a:ext cx="966765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4000" i="0" dirty="0">
                <a:effectLst/>
                <a:latin typeface="opensans-regular"/>
              </a:rPr>
              <a:t>Funcionamiento de una</a:t>
            </a:r>
          </a:p>
          <a:p>
            <a:pPr algn="l"/>
            <a:r>
              <a:rPr lang="es-ES" sz="4000" i="0" dirty="0">
                <a:effectLst/>
                <a:latin typeface="opensans-regular"/>
              </a:rPr>
              <a:t> calculadora clásica</a:t>
            </a:r>
          </a:p>
        </p:txBody>
      </p:sp>
      <p:pic>
        <p:nvPicPr>
          <p:cNvPr id="1026" name="Picture 2" descr="Cómo hacer una calculadora en Python">
            <a:extLst>
              <a:ext uri="{FF2B5EF4-FFF2-40B4-BE49-F238E27FC236}">
                <a16:creationId xmlns:a16="http://schemas.microsoft.com/office/drawing/2014/main" id="{D83DA02D-48CF-4D62-A417-6A086311B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9266" y="285146"/>
            <a:ext cx="5765283" cy="202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B422C715-5F97-4716-BC07-CA6B84C95837}"/>
              </a:ext>
            </a:extLst>
          </p:cNvPr>
          <p:cNvSpPr txBox="1"/>
          <p:nvPr/>
        </p:nvSpPr>
        <p:spPr>
          <a:xfrm>
            <a:off x="350873" y="2152969"/>
            <a:ext cx="6103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Objetivo:</a:t>
            </a:r>
            <a:br>
              <a:rPr lang="es-ES" dirty="0"/>
            </a:br>
            <a:r>
              <a:rPr lang="es-ES" dirty="0"/>
              <a:t>Desarrollar una aplicación que simule el comportamiento de una calculadora física tradicional.</a:t>
            </a:r>
            <a:endParaRPr lang="es-CO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EBB70B9-2E82-4FA7-ACE2-8C085ED3BE2F}"/>
              </a:ext>
            </a:extLst>
          </p:cNvPr>
          <p:cNvSpPr txBox="1"/>
          <p:nvPr/>
        </p:nvSpPr>
        <p:spPr>
          <a:xfrm>
            <a:off x="350873" y="3265418"/>
            <a:ext cx="1073888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Características clave: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Introducción </a:t>
            </a:r>
            <a:r>
              <a:rPr lang="es-ES" b="1" dirty="0"/>
              <a:t>secuencial de dígitos</a:t>
            </a:r>
            <a:r>
              <a:rPr lang="es-ES" dirty="0"/>
              <a:t> para construir números.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Uso de </a:t>
            </a:r>
            <a:r>
              <a:rPr lang="es-ES" b="1" dirty="0"/>
              <a:t>operadores básicos</a:t>
            </a:r>
            <a:r>
              <a:rPr lang="es-ES" dirty="0"/>
              <a:t> para realizar operaciones.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Visualización en una </a:t>
            </a:r>
            <a:r>
              <a:rPr lang="es-ES" b="1" dirty="0"/>
              <a:t>pantalla pequeña</a:t>
            </a:r>
            <a:r>
              <a:rPr lang="es-ES" dirty="0"/>
              <a:t> de números y resultados.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Funcionamiento </a:t>
            </a:r>
            <a:r>
              <a:rPr lang="es-ES" b="1" dirty="0"/>
              <a:t>paso a paso</a:t>
            </a:r>
            <a:r>
              <a:rPr lang="es-ES" dirty="0"/>
              <a:t> según se pulsan los botones (⚠️ </a:t>
            </a:r>
            <a:r>
              <a:rPr lang="es-ES" b="1" dirty="0"/>
              <a:t>no interpreta expresiones completas</a:t>
            </a:r>
            <a:r>
              <a:rPr lang="es-ES" dirty="0"/>
              <a:t>).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729CE80-DDEE-4DB3-90FA-2494B5B9B4E0}"/>
              </a:ext>
            </a:extLst>
          </p:cNvPr>
          <p:cNvSpPr txBox="1"/>
          <p:nvPr/>
        </p:nvSpPr>
        <p:spPr>
          <a:xfrm>
            <a:off x="350873" y="4931865"/>
            <a:ext cx="6103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Meta del proyecto:</a:t>
            </a:r>
            <a:br>
              <a:rPr lang="es-ES" dirty="0"/>
            </a:br>
            <a:r>
              <a:rPr lang="es-ES" dirty="0"/>
              <a:t>Recrear el funcionamiento real de una calculadora…</a:t>
            </a:r>
            <a:br>
              <a:rPr lang="es-ES" dirty="0"/>
            </a:br>
            <a:r>
              <a:rPr lang="es-ES" dirty="0"/>
              <a:t>¡</a:t>
            </a:r>
            <a:r>
              <a:rPr lang="es-ES" b="1" dirty="0"/>
              <a:t>Tal como la usarías en la vida cotidiana!</a:t>
            </a:r>
            <a:r>
              <a:rPr lang="es-ES" dirty="0"/>
              <a:t> 💡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18324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E4EFFF0-FBE5-451D-A112-42053BEB3EDD}"/>
              </a:ext>
            </a:extLst>
          </p:cNvPr>
          <p:cNvSpPr txBox="1"/>
          <p:nvPr/>
        </p:nvSpPr>
        <p:spPr>
          <a:xfrm>
            <a:off x="241890" y="362635"/>
            <a:ext cx="9550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🧩 Arquitectura del Proyecto — Calculadora</a:t>
            </a:r>
          </a:p>
          <a:p>
            <a:r>
              <a:rPr lang="es-ES" b="1" dirty="0"/>
              <a:t>Antes de programar → análisis y diseño</a:t>
            </a:r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1B87CDD-81C3-4460-A5BB-3245252CF13E}"/>
              </a:ext>
            </a:extLst>
          </p:cNvPr>
          <p:cNvSpPr txBox="1"/>
          <p:nvPr/>
        </p:nvSpPr>
        <p:spPr>
          <a:xfrm>
            <a:off x="412011" y="1259086"/>
            <a:ext cx="60977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🖥️ Interfaz de Usuario (Vista)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Recibe la entrada del usuario (dígitos y operadores)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Muestra los resultados en pantalla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Debe </a:t>
            </a:r>
            <a:r>
              <a:rPr lang="es-ES" b="1" dirty="0"/>
              <a:t>conocer al modelo</a:t>
            </a:r>
            <a:r>
              <a:rPr lang="es-ES" dirty="0"/>
              <a:t> para enviarle datos y mostrar resultados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2C78C21-E9F0-41C4-9CCC-1DC2FE09B644}"/>
              </a:ext>
            </a:extLst>
          </p:cNvPr>
          <p:cNvSpPr txBox="1"/>
          <p:nvPr/>
        </p:nvSpPr>
        <p:spPr>
          <a:xfrm>
            <a:off x="5777910" y="2998083"/>
            <a:ext cx="60977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⚙️ Modelo (Lógica)</a:t>
            </a:r>
          </a:p>
          <a:p>
            <a:r>
              <a:rPr lang="es-ES" dirty="0"/>
              <a:t>Mantiene el estado (números y operadores)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Realiza los cálculos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No debe conocer a la interfaz</a:t>
            </a:r>
            <a:r>
              <a:rPr lang="es-ES" dirty="0"/>
              <a:t>, para reducir acoplamiento y aumentar cohesión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939EA2B-23C2-4689-A228-F2DF2934D270}"/>
              </a:ext>
            </a:extLst>
          </p:cNvPr>
          <p:cNvSpPr txBox="1"/>
          <p:nvPr/>
        </p:nvSpPr>
        <p:spPr>
          <a:xfrm>
            <a:off x="587448" y="4725531"/>
            <a:ext cx="60977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📌 </a:t>
            </a:r>
            <a:r>
              <a:rPr lang="es-ES" b="1" dirty="0"/>
              <a:t>Relación entre componentes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Vista → comunica con Modelo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Modelo ⛔ no comunica con Vista</a:t>
            </a:r>
          </a:p>
          <a:p>
            <a:r>
              <a:rPr lang="es-ES" i="1" dirty="0"/>
              <a:t>(Esto permite cambiar la interfaz sin modificar la lógica)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67944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B027BF4-517B-42D9-8821-804492269659}"/>
              </a:ext>
            </a:extLst>
          </p:cNvPr>
          <p:cNvSpPr txBox="1"/>
          <p:nvPr/>
        </p:nvSpPr>
        <p:spPr>
          <a:xfrm>
            <a:off x="412012" y="447971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🧠 Diseño de la Calculadora — Patrón Estado</a:t>
            </a:r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DCBAF32-2D8C-497C-AD46-98FCA2276C52}"/>
              </a:ext>
            </a:extLst>
          </p:cNvPr>
          <p:cNvSpPr txBox="1"/>
          <p:nvPr/>
        </p:nvSpPr>
        <p:spPr>
          <a:xfrm>
            <a:off x="850604" y="1115957"/>
            <a:ext cx="56591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⚡ El reto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Muchas acciones posibles: dígitos, operadores, borrar, resultado…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Acciones en </a:t>
            </a:r>
            <a:r>
              <a:rPr lang="es-ES" b="1" dirty="0"/>
              <a:t>cualquier orden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Calculadora pasa por </a:t>
            </a:r>
            <a:r>
              <a:rPr lang="es-ES" b="1" dirty="0"/>
              <a:t>estados internos</a:t>
            </a:r>
            <a:r>
              <a:rPr lang="es-ES" dirty="0"/>
              <a:t>: inicial, introduciendo operando, error,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Esto genera </a:t>
            </a:r>
            <a:r>
              <a:rPr lang="es-ES" b="1" dirty="0"/>
              <a:t>código complejo, lleno de condicionales</a:t>
            </a:r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3428D95-B434-4035-B5BA-84C63222E03E}"/>
              </a:ext>
            </a:extLst>
          </p:cNvPr>
          <p:cNvSpPr txBox="1"/>
          <p:nvPr/>
        </p:nvSpPr>
        <p:spPr>
          <a:xfrm>
            <a:off x="6509784" y="2033178"/>
            <a:ext cx="508812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💡 La solución: Patrón Estado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Cambia el </a:t>
            </a:r>
            <a:r>
              <a:rPr lang="es-ES" b="1" dirty="0"/>
              <a:t>comportamiento según el estado actual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Cada estado define cómo responder a las acciones del usuario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Simplifica el código → más </a:t>
            </a:r>
            <a:r>
              <a:rPr lang="es-ES" b="1" dirty="0"/>
              <a:t>legible, mantenible y escalable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Permite </a:t>
            </a:r>
            <a:r>
              <a:rPr lang="es-ES" b="1" dirty="0"/>
              <a:t>añadir nuevos estados sin romper el resto</a:t>
            </a:r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B10619F-49A9-4722-8DCF-45963FFE7A75}"/>
              </a:ext>
            </a:extLst>
          </p:cNvPr>
          <p:cNvSpPr txBox="1"/>
          <p:nvPr/>
        </p:nvSpPr>
        <p:spPr>
          <a:xfrm>
            <a:off x="6096000" y="5280378"/>
            <a:ext cx="48457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📌 </a:t>
            </a:r>
            <a:r>
              <a:rPr lang="es-ES" b="1" dirty="0"/>
              <a:t>Claves del diseño de software: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Analizar y diseñar antes de programar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Usar patrones para resolver problemas comunes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25D3200-DCB3-4BC8-AE76-A9000A3914C3}"/>
              </a:ext>
            </a:extLst>
          </p:cNvPr>
          <p:cNvSpPr txBox="1"/>
          <p:nvPr/>
        </p:nvSpPr>
        <p:spPr>
          <a:xfrm>
            <a:off x="594092" y="4165915"/>
            <a:ext cx="44151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💡 </a:t>
            </a:r>
            <a:r>
              <a:rPr lang="es-ES" b="1" dirty="0"/>
              <a:t>Tip:</a:t>
            </a:r>
            <a:r>
              <a:rPr lang="es-ES" dirty="0"/>
              <a:t> Este patrón está descrito en el libro </a:t>
            </a:r>
            <a:r>
              <a:rPr lang="es-ES" i="1" dirty="0"/>
              <a:t>Patrones de Diseño</a:t>
            </a:r>
            <a:r>
              <a:rPr lang="es-ES" dirty="0"/>
              <a:t> — lectura recomendada para todo desarrollador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28676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n de la publicación">
            <a:extLst>
              <a:ext uri="{FF2B5EF4-FFF2-40B4-BE49-F238E27FC236}">
                <a16:creationId xmlns:a16="http://schemas.microsoft.com/office/drawing/2014/main" id="{F5E8D3FF-989A-482D-AA8A-1EB3D84892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70" b="11473"/>
          <a:stretch/>
        </p:blipFill>
        <p:spPr bwMode="auto">
          <a:xfrm>
            <a:off x="-1" y="0"/>
            <a:ext cx="7591647" cy="6869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hlinkClick r:id="rId3"/>
            <a:extLst>
              <a:ext uri="{FF2B5EF4-FFF2-40B4-BE49-F238E27FC236}">
                <a16:creationId xmlns:a16="http://schemas.microsoft.com/office/drawing/2014/main" id="{1971AFBA-C700-42A2-AF17-E6E8541E9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352" y="91504"/>
            <a:ext cx="4342070" cy="2894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A42C54CB-5E45-4539-8324-5979C8873078}"/>
              </a:ext>
            </a:extLst>
          </p:cNvPr>
          <p:cNvSpPr txBox="1"/>
          <p:nvPr/>
        </p:nvSpPr>
        <p:spPr>
          <a:xfrm>
            <a:off x="8996473" y="2986217"/>
            <a:ext cx="17158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s-CO" b="0" i="0" u="sng" dirty="0" err="1">
                <a:solidFill>
                  <a:srgbClr val="2C313F"/>
                </a:solidFill>
                <a:effectLst/>
                <a:latin typeface="Lato" panose="020F0502020204030203" pitchFamily="34" charset="0"/>
                <a:hlinkClick r:id="rId5"/>
              </a:rPr>
              <a:t>ErichGamma</a:t>
            </a:r>
            <a:endParaRPr lang="es-CO" b="0" i="0" dirty="0">
              <a:solidFill>
                <a:srgbClr val="73757D"/>
              </a:solidFill>
              <a:effectLst/>
              <a:latin typeface="Lato" panose="020F050202020403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CO" b="0" i="0" u="sng" dirty="0" err="1">
                <a:solidFill>
                  <a:srgbClr val="2C313F"/>
                </a:solidFill>
                <a:effectLst/>
                <a:latin typeface="Lato" panose="020F0502020204030203" pitchFamily="34" charset="0"/>
                <a:hlinkClick r:id="rId6"/>
              </a:rPr>
              <a:t>RichardHelm</a:t>
            </a:r>
            <a:endParaRPr lang="es-CO" b="0" i="0" dirty="0">
              <a:solidFill>
                <a:srgbClr val="73757D"/>
              </a:solidFill>
              <a:effectLst/>
              <a:latin typeface="Lato" panose="020F050202020403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CO" b="0" i="0" u="sng" dirty="0" err="1">
                <a:solidFill>
                  <a:srgbClr val="2C313F"/>
                </a:solidFill>
                <a:effectLst/>
                <a:latin typeface="Lato" panose="020F0502020204030203" pitchFamily="34" charset="0"/>
                <a:hlinkClick r:id="rId7"/>
              </a:rPr>
              <a:t>RalphJohnson</a:t>
            </a:r>
            <a:endParaRPr lang="es-CO" b="0" i="0" dirty="0">
              <a:solidFill>
                <a:srgbClr val="73757D"/>
              </a:solidFill>
              <a:effectLst/>
              <a:latin typeface="Lato" panose="020F050202020403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CO" b="0" i="0" u="sng" dirty="0" err="1">
                <a:solidFill>
                  <a:srgbClr val="2C313F"/>
                </a:solidFill>
                <a:effectLst/>
                <a:latin typeface="Lato" panose="020F0502020204030203" pitchFamily="34" charset="0"/>
                <a:hlinkClick r:id="rId8"/>
              </a:rPr>
              <a:t>JohnVlissides</a:t>
            </a:r>
            <a:endParaRPr lang="es-CO" b="0" i="0" dirty="0">
              <a:solidFill>
                <a:srgbClr val="73757D"/>
              </a:solidFill>
              <a:effectLst/>
              <a:latin typeface="Lato" panose="020F0502020204030203" pitchFamily="34" charset="0"/>
            </a:endParaRPr>
          </a:p>
        </p:txBody>
      </p:sp>
      <p:pic>
        <p:nvPicPr>
          <p:cNvPr id="3078" name="Picture 6" descr="Refactoring.Guru">
            <a:hlinkClick r:id="rId9"/>
            <a:extLst>
              <a:ext uri="{FF2B5EF4-FFF2-40B4-BE49-F238E27FC236}">
                <a16:creationId xmlns:a16="http://schemas.microsoft.com/office/drawing/2014/main" id="{4C513567-6C23-4E6A-8073-A85088DC9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473" y="4395481"/>
            <a:ext cx="1905000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7069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F1EDAF36-50B1-4975-A0FB-94DE27DBC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4165"/>
            <a:ext cx="12192000" cy="578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6726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ómo hacer una calculadora en Python – Diagrama de Clases">
            <a:extLst>
              <a:ext uri="{FF2B5EF4-FFF2-40B4-BE49-F238E27FC236}">
                <a16:creationId xmlns:a16="http://schemas.microsoft.com/office/drawing/2014/main" id="{538D7BB9-DE06-47A5-899D-55100EDEB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97" y="0"/>
            <a:ext cx="10887431" cy="6847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43718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330</Words>
  <Application>Microsoft Office PowerPoint</Application>
  <PresentationFormat>Panorámica</PresentationFormat>
  <Paragraphs>43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Lato</vt:lpstr>
      <vt:lpstr>opensans-regular</vt:lpstr>
      <vt:lpstr>Tema de Office</vt:lpstr>
      <vt:lpstr>Desarrollo de Software Científico Colaborativo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Desarrollo de Software Científico Colaborativo</dc:title>
  <dc:creator>CARLOS ANDRES GOMEZ VASCO</dc:creator>
  <cp:lastModifiedBy>CARLOS ANDRES GOMEZ VASCO</cp:lastModifiedBy>
  <cp:revision>6</cp:revision>
  <dcterms:created xsi:type="dcterms:W3CDTF">2025-09-16T16:53:44Z</dcterms:created>
  <dcterms:modified xsi:type="dcterms:W3CDTF">2025-09-16T18:01:07Z</dcterms:modified>
</cp:coreProperties>
</file>