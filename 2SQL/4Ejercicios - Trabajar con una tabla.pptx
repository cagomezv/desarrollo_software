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0" r:id="rId2"/>
    <p:sldId id="261" r:id="rId3"/>
    <p:sldId id="259" r:id="rId4"/>
    <p:sldId id="272" r:id="rId5"/>
    <p:sldId id="273" r:id="rId6"/>
    <p:sldId id="342" r:id="rId7"/>
    <p:sldId id="343" r:id="rId8"/>
    <p:sldId id="344" r:id="rId9"/>
    <p:sldId id="34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837" autoAdjust="0"/>
    <p:restoredTop sz="94660"/>
  </p:normalViewPr>
  <p:slideViewPr>
    <p:cSldViewPr snapToGrid="0">
      <p:cViewPr varScale="1">
        <p:scale>
          <a:sx n="90" d="100"/>
          <a:sy n="90" d="100"/>
        </p:scale>
        <p:origin x="9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7CE08-6639-4A14-8323-8CD4F23791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4DC537-86FA-4B04-B476-432D5B5A7C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20BD9-4545-43AE-8589-5D6EC0EED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9687-44EC-4605-8F3A-68B6BEDA3568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3AFBE-EDF0-4419-AC77-25B940B8C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D9F8E-614B-4D16-BF84-05559C7E6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011A9-C2ED-4891-A65D-A0A2356E11A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91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5FE46-1925-4A03-A960-59851C380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EC32E-AE5C-4F7F-8BD2-9AADFDFA1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2C739-48BD-4119-B79D-99A73899D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9687-44EC-4605-8F3A-68B6BEDA3568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DCA3F-64E2-4771-AF9C-321F9A24D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0C1CA-9550-4443-B7AF-899A2CBC2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011A9-C2ED-4891-A65D-A0A2356E11A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432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DE59E-C614-4A7C-B3F9-ACEB7248A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D7E24-32AE-4566-97DC-04C6BA7CA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E1751-3C74-4537-BE16-503BA917E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9687-44EC-4605-8F3A-68B6BEDA3568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9F128-B980-4089-9FAD-08E34F54F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67EC7-5C56-47EB-BEBD-4FDB9F980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011A9-C2ED-4891-A65D-A0A2356E11A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641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02066-1885-43C3-A951-D971B98B9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261EB-2745-4226-A064-D8607E955F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93A47-E32F-48E7-BC20-7A6C69D38F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1FA7CC-8165-4C64-9C89-CA708B500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9687-44EC-4605-8F3A-68B6BEDA3568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0A043-862A-4B12-8F14-987FF6745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ED639-C16B-405B-AC5E-315E84867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011A9-C2ED-4891-A65D-A0A2356E11A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619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F4761-2CB8-4AB8-9490-B5CBD5C89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64F28-FEA4-4BCB-B27F-D48A601A2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D1D588-949D-495B-A69E-A76609A74F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941B6E-6C06-4784-8D4C-019AADE27B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85B2F3-880B-4AEE-B382-9103E9E260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359B64-68E1-409C-AE67-877F9A03D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9687-44EC-4605-8F3A-68B6BEDA3568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334DF0-FC9E-42FA-B38C-AA9371347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3682FE-D4BA-4938-9671-F83D1AF8C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011A9-C2ED-4891-A65D-A0A2356E11A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261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F41A9-2F1C-4196-81A8-27039644B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014A9E-D0B0-4404-98EE-5D8F6EC2B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9687-44EC-4605-8F3A-68B6BEDA3568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230F12-CA7E-40C5-AA71-CE203664B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46FB0C-A717-4F9B-B292-FBAF5E4A7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011A9-C2ED-4891-A65D-A0A2356E11A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452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F2AF4D-A90E-4E73-B50A-3200476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9687-44EC-4605-8F3A-68B6BEDA3568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876A69-91B2-4F55-BD1C-6839E4A37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4E0C1A-BB8B-447E-A2E7-4F1E89F3A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011A9-C2ED-4891-A65D-A0A2356E11A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492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F1792-B68B-470F-979F-169D02C65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55AEB-8DF6-4A0F-868D-9933F7FFD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7F21BF-C999-483B-92E9-2B0060348D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02A783-95AC-41ED-8172-820CBDD52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9687-44EC-4605-8F3A-68B6BEDA3568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91DA37-E73D-4C29-864C-1E3525EC7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79F8B8-D1FC-46F9-B1CB-209CB79A7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011A9-C2ED-4891-A65D-A0A2356E11A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8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A5E43-3EB0-43EB-A0CF-DE0FE6A4E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D0705B-91D2-4F11-AB98-E548C2EB70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71D464-E630-4D2F-B134-109F9AC68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CC53F2-47F2-49D6-8E16-A6618ED21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9687-44EC-4605-8F3A-68B6BEDA3568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39ED1B-EBAA-4E4E-80A4-DAD2747FD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9076A-1B76-47CB-90A6-2A7B8086D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011A9-C2ED-4891-A65D-A0A2356E11A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821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DAF26-CBAD-438B-AAE9-460A48334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0D7604-07CD-4D75-BE55-08BD2DDBB7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C1A43-5198-4CC5-9CCA-3D70280D4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9687-44EC-4605-8F3A-68B6BEDA3568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6EC4B-55B6-4E79-B3C6-AD79253D8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B1439-6FD7-4D53-B4B6-1F6DFACD2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011A9-C2ED-4891-A65D-A0A2356E11A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05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923455-ABA7-442A-A9E2-0CEE3C4B3F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04F35B-F79C-4C1F-BE04-A5687EF320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D4ADE-CB44-4E1D-A0EF-DF0E10790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9687-44EC-4605-8F3A-68B6BEDA3568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2B291-0D8F-4EC4-8128-392823F3D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11C3F-1984-4088-A238-A5E2A1F05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011A9-C2ED-4891-A65D-A0A2356E11A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658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DD1C5D-2B2D-4477-BFF2-B41FFDF8F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E7F341-41CB-4246-A1DA-210194CBF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A9EEC-2E6E-4776-B59F-293537226B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A69687-44EC-4605-8F3A-68B6BEDA3568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355E7-BADE-4D44-9016-59E24C08C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6A2D3-197A-4AE0-A8A8-B6B4B4C1F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011A9-C2ED-4891-A65D-A0A2356E11A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268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3DF02531-54F5-457A-AF1A-B1EADE12AA4E}"/>
              </a:ext>
            </a:extLst>
          </p:cNvPr>
          <p:cNvSpPr txBox="1"/>
          <p:nvPr/>
        </p:nvSpPr>
        <p:spPr>
          <a:xfrm>
            <a:off x="2349702" y="2628716"/>
            <a:ext cx="60572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>
                <a:solidFill>
                  <a:srgbClr val="F39112"/>
                </a:solidFill>
                <a:latin typeface="Franklin Gothic Demi Cond" panose="020B0706030402020204" pitchFamily="34" charset="0"/>
              </a:rPr>
              <a:t>Trabajar con una tabla</a:t>
            </a:r>
            <a:endParaRPr lang="es-ES" sz="5400">
              <a:solidFill>
                <a:srgbClr val="F39112"/>
              </a:solidFill>
              <a:latin typeface="Franklin Gothic Demi Cond" panose="020B07060304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237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3DF02531-54F5-457A-AF1A-B1EADE12AA4E}"/>
              </a:ext>
            </a:extLst>
          </p:cNvPr>
          <p:cNvSpPr txBox="1"/>
          <p:nvPr/>
        </p:nvSpPr>
        <p:spPr>
          <a:xfrm>
            <a:off x="0" y="1056477"/>
            <a:ext cx="61448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>
                <a:solidFill>
                  <a:srgbClr val="48809C"/>
                </a:solidFill>
                <a:latin typeface="Franklin Gothic Demi Cond" panose="020B0706030402020204" pitchFamily="34" charset="0"/>
              </a:rPr>
              <a:t>La </a:t>
            </a:r>
            <a:r>
              <a:rPr lang="en-US" sz="5400" err="1">
                <a:solidFill>
                  <a:srgbClr val="48809C"/>
                </a:solidFill>
                <a:latin typeface="Franklin Gothic Demi Cond" panose="020B0706030402020204" pitchFamily="34" charset="0"/>
              </a:rPr>
              <a:t>declaración</a:t>
            </a:r>
            <a:r>
              <a:rPr lang="en-US" sz="5400">
                <a:solidFill>
                  <a:srgbClr val="48809C"/>
                </a:solidFill>
                <a:latin typeface="Franklin Gothic Demi Cond" panose="020B0706030402020204" pitchFamily="34" charset="0"/>
              </a:rPr>
              <a:t> </a:t>
            </a:r>
            <a:r>
              <a:rPr lang="en-US" sz="5400">
                <a:solidFill>
                  <a:srgbClr val="F39112"/>
                </a:solidFill>
                <a:latin typeface="Franklin Gothic Demi Cond" panose="020B0706030402020204" pitchFamily="34" charset="0"/>
              </a:rPr>
              <a:t>SELECT</a:t>
            </a:r>
            <a:endParaRPr lang="es-ES" sz="5400">
              <a:solidFill>
                <a:srgbClr val="F39112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EE38A47-07A4-4339-B261-73E96119E352}"/>
              </a:ext>
            </a:extLst>
          </p:cNvPr>
          <p:cNvSpPr/>
          <p:nvPr/>
        </p:nvSpPr>
        <p:spPr>
          <a:xfrm>
            <a:off x="176171" y="2119444"/>
            <a:ext cx="5654178" cy="4600138"/>
          </a:xfrm>
          <a:prstGeom prst="roundRect">
            <a:avLst/>
          </a:prstGeom>
          <a:solidFill>
            <a:schemeClr val="bg1"/>
          </a:solidFill>
          <a:ln>
            <a:solidFill>
              <a:srgbClr val="48809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">
              <a:solidFill>
                <a:schemeClr val="tx1"/>
              </a:solidFill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944F965F-051F-491D-AA3D-D7F03F922009}"/>
              </a:ext>
            </a:extLst>
          </p:cNvPr>
          <p:cNvSpPr/>
          <p:nvPr/>
        </p:nvSpPr>
        <p:spPr>
          <a:xfrm>
            <a:off x="461394" y="2416029"/>
            <a:ext cx="457200" cy="457200"/>
          </a:xfrm>
          <a:prstGeom prst="ellipse">
            <a:avLst/>
          </a:prstGeom>
          <a:solidFill>
            <a:srgbClr val="F391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Franklin Gothic Demi Cond" panose="020B0706030402020204" pitchFamily="34" charset="0"/>
              </a:rPr>
              <a:t>1</a:t>
            </a:r>
            <a:endParaRPr lang="es-ES" sz="2800">
              <a:latin typeface="Franklin Gothic Demi Cond" panose="020B07060304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1E8D12B-B13D-41AA-A47E-B10D9EF8F920}"/>
              </a:ext>
            </a:extLst>
          </p:cNvPr>
          <p:cNvSpPr txBox="1"/>
          <p:nvPr/>
        </p:nvSpPr>
        <p:spPr>
          <a:xfrm>
            <a:off x="918593" y="2416029"/>
            <a:ext cx="4464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Selecciona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tu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SCHEMA </a:t>
            </a:r>
            <a:r>
              <a:rPr lang="en-US" b="1">
                <a:latin typeface="Segoe UI Light" panose="020B0502040204020203" pitchFamily="34" charset="0"/>
                <a:cs typeface="Segoe UI Light" panose="020B0502040204020203" pitchFamily="34" charset="0"/>
              </a:rPr>
              <a:t>db_practicas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con </a:t>
            </a:r>
            <a:r>
              <a:rPr lang="en-US" b="1">
                <a:solidFill>
                  <a:srgbClr val="48809C"/>
                </a:solidFill>
                <a:latin typeface="Franklin Gothic Demi Cond" panose="020B0706030402020204" pitchFamily="34" charset="0"/>
                <a:cs typeface="Segoe UI Light" panose="020B0502040204020203" pitchFamily="34" charset="0"/>
              </a:rPr>
              <a:t>USE</a:t>
            </a:r>
            <a:endParaRPr lang="es-ES" b="1">
              <a:solidFill>
                <a:srgbClr val="48809C"/>
              </a:solidFill>
              <a:latin typeface="Franklin Gothic Demi Cond" panose="020B0706030402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3CFD5EF-DD88-4337-9088-56961942997E}"/>
              </a:ext>
            </a:extLst>
          </p:cNvPr>
          <p:cNvSpPr/>
          <p:nvPr/>
        </p:nvSpPr>
        <p:spPr>
          <a:xfrm>
            <a:off x="461394" y="3201997"/>
            <a:ext cx="457200" cy="457200"/>
          </a:xfrm>
          <a:prstGeom prst="ellipse">
            <a:avLst/>
          </a:prstGeom>
          <a:solidFill>
            <a:srgbClr val="F391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Franklin Gothic Demi Cond" panose="020B0706030402020204" pitchFamily="34" charset="0"/>
              </a:rPr>
              <a:t>2</a:t>
            </a:r>
            <a:endParaRPr lang="es-ES" sz="2800">
              <a:latin typeface="Franklin Gothic Demi Cond" panose="020B07060304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0F70331-B33B-45BC-9D2E-03DDF9D112A1}"/>
              </a:ext>
            </a:extLst>
          </p:cNvPr>
          <p:cNvSpPr txBox="1"/>
          <p:nvPr/>
        </p:nvSpPr>
        <p:spPr>
          <a:xfrm>
            <a:off x="918594" y="3201997"/>
            <a:ext cx="3909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Aplica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un </a:t>
            </a:r>
            <a:r>
              <a:rPr lang="en-US" b="1">
                <a:solidFill>
                  <a:srgbClr val="48809C"/>
                </a:solidFill>
                <a:latin typeface="Franklin Gothic Demi Cond" panose="020B0706030402020204" pitchFamily="34" charset="0"/>
                <a:cs typeface="Segoe UI Light" panose="020B0502040204020203" pitchFamily="34" charset="0"/>
              </a:rPr>
              <a:t>SELECT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y </a:t>
            </a:r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obtén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todas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las </a:t>
            </a:r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columnas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con </a:t>
            </a:r>
            <a:r>
              <a:rPr lang="en-US" b="1">
                <a:latin typeface="Segoe UI Light" panose="020B0502040204020203" pitchFamily="34" charset="0"/>
                <a:cs typeface="Segoe UI Light" panose="020B0502040204020203" pitchFamily="34" charset="0"/>
              </a:rPr>
              <a:t>* 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de </a:t>
            </a:r>
            <a:r>
              <a:rPr lang="en-US" b="1">
                <a:latin typeface="Segoe UI Light" panose="020B0502040204020203" pitchFamily="34" charset="0"/>
                <a:cs typeface="Segoe UI Light" panose="020B0502040204020203" pitchFamily="34" charset="0"/>
              </a:rPr>
              <a:t>ventas</a:t>
            </a:r>
            <a:endParaRPr lang="es-ES" b="1">
              <a:solidFill>
                <a:srgbClr val="48809C"/>
              </a:solidFill>
              <a:latin typeface="Franklin Gothic Demi Cond" panose="020B0706030402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DE3E2A71-24CD-4465-A55B-F2328116DCE8}"/>
              </a:ext>
            </a:extLst>
          </p:cNvPr>
          <p:cNvSpPr/>
          <p:nvPr/>
        </p:nvSpPr>
        <p:spPr>
          <a:xfrm>
            <a:off x="461394" y="3989463"/>
            <a:ext cx="457200" cy="457200"/>
          </a:xfrm>
          <a:prstGeom prst="ellipse">
            <a:avLst/>
          </a:prstGeom>
          <a:solidFill>
            <a:srgbClr val="F391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Franklin Gothic Demi Cond" panose="020B0706030402020204" pitchFamily="34" charset="0"/>
              </a:rPr>
              <a:t>3</a:t>
            </a:r>
            <a:endParaRPr lang="es-ES" sz="2800">
              <a:latin typeface="Franklin Gothic Demi Cond" panose="020B07060304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74065AB-BDC4-4AEA-8E44-FE2050C1BFD4}"/>
              </a:ext>
            </a:extLst>
          </p:cNvPr>
          <p:cNvSpPr txBox="1"/>
          <p:nvPr/>
        </p:nvSpPr>
        <p:spPr>
          <a:xfrm>
            <a:off x="918594" y="3989463"/>
            <a:ext cx="3909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Usa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b="1">
                <a:solidFill>
                  <a:srgbClr val="48809C"/>
                </a:solidFill>
                <a:latin typeface="Franklin Gothic Demi Cond" panose="020B0706030402020204" pitchFamily="34" charset="0"/>
                <a:cs typeface="Segoe UI Light" panose="020B0502040204020203" pitchFamily="34" charset="0"/>
              </a:rPr>
              <a:t>SELECT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para </a:t>
            </a:r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traer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las </a:t>
            </a:r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columnas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ID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_zona, venta y ID_cliente</a:t>
            </a:r>
            <a:endParaRPr lang="es-ES" b="1">
              <a:solidFill>
                <a:srgbClr val="48809C"/>
              </a:solidFill>
              <a:latin typeface="Franklin Gothic Demi Cond" panose="020B0706030402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F250BDA0-195F-476D-A019-589128835270}"/>
              </a:ext>
            </a:extLst>
          </p:cNvPr>
          <p:cNvSpPr/>
          <p:nvPr/>
        </p:nvSpPr>
        <p:spPr>
          <a:xfrm>
            <a:off x="461394" y="4775431"/>
            <a:ext cx="457200" cy="457200"/>
          </a:xfrm>
          <a:prstGeom prst="ellipse">
            <a:avLst/>
          </a:prstGeom>
          <a:solidFill>
            <a:srgbClr val="F391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Franklin Gothic Demi Cond" panose="020B0706030402020204" pitchFamily="34" charset="0"/>
              </a:rPr>
              <a:t>4</a:t>
            </a:r>
            <a:endParaRPr lang="es-ES" sz="2800">
              <a:latin typeface="Franklin Gothic Demi Cond" panose="020B07060304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0A929BA-C07C-45F4-A8BE-7A86AAB7993A}"/>
              </a:ext>
            </a:extLst>
          </p:cNvPr>
          <p:cNvSpPr txBox="1"/>
          <p:nvPr/>
        </p:nvSpPr>
        <p:spPr>
          <a:xfrm>
            <a:off x="918594" y="4775431"/>
            <a:ext cx="3909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Con </a:t>
            </a:r>
            <a:r>
              <a:rPr lang="en-US" b="1">
                <a:solidFill>
                  <a:srgbClr val="48809C"/>
                </a:solidFill>
                <a:latin typeface="Franklin Gothic Demi Cond" panose="020B0706030402020204" pitchFamily="34" charset="0"/>
                <a:cs typeface="Segoe UI Light" panose="020B0502040204020203" pitchFamily="34" charset="0"/>
              </a:rPr>
              <a:t>SELECT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trae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ahora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solo venta y dale </a:t>
            </a:r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otro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nombre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con </a:t>
            </a:r>
            <a:r>
              <a:rPr lang="en-US" b="1">
                <a:latin typeface="Segoe UI Light" panose="020B0502040204020203" pitchFamily="34" charset="0"/>
                <a:cs typeface="Segoe UI Light" panose="020B0502040204020203" pitchFamily="34" charset="0"/>
              </a:rPr>
              <a:t>AS 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a la columna</a:t>
            </a:r>
            <a:endParaRPr lang="es-ES" b="1">
              <a:solidFill>
                <a:srgbClr val="48809C"/>
              </a:solidFill>
              <a:latin typeface="Franklin Gothic Demi Cond" panose="020B0706030402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DB0C44C-68CD-48A7-9139-C286A97F2383}"/>
              </a:ext>
            </a:extLst>
          </p:cNvPr>
          <p:cNvSpPr txBox="1"/>
          <p:nvPr/>
        </p:nvSpPr>
        <p:spPr>
          <a:xfrm>
            <a:off x="8581937" y="3745502"/>
            <a:ext cx="2778143" cy="2554545"/>
          </a:xfrm>
          <a:prstGeom prst="rect">
            <a:avLst/>
          </a:prstGeom>
          <a:noFill/>
          <a:ln w="38100">
            <a:solidFill>
              <a:srgbClr val="48809C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Seleccionar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con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Seleccionar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con Doble Click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La </a:t>
            </a: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declaración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SELECT y sus </a:t>
            </a: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clausulas</a:t>
            </a:r>
            <a:endParaRPr lang="en-US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Ejecutar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una consulta con </a:t>
            </a: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atajos</a:t>
            </a:r>
            <a:endParaRPr lang="en-US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Diferentes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maneras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usar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SELECT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Visualizar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los </a:t>
            </a: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resultados</a:t>
            </a:r>
            <a:endParaRPr lang="en-US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99CCF7C-BF7B-450C-8679-657725A98896}"/>
              </a:ext>
            </a:extLst>
          </p:cNvPr>
          <p:cNvSpPr txBox="1"/>
          <p:nvPr/>
        </p:nvSpPr>
        <p:spPr>
          <a:xfrm>
            <a:off x="9105842" y="3201997"/>
            <a:ext cx="1721946" cy="523220"/>
          </a:xfrm>
          <a:prstGeom prst="rect">
            <a:avLst/>
          </a:prstGeom>
          <a:solidFill>
            <a:srgbClr val="F3911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  <a:latin typeface="Franklin Gothic Demi Cond" panose="020B0706030402020204" pitchFamily="34" charset="0"/>
              </a:rPr>
              <a:t>Importante</a:t>
            </a:r>
            <a:endParaRPr lang="es-ES" sz="28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20" name="Elipse 17">
            <a:extLst>
              <a:ext uri="{FF2B5EF4-FFF2-40B4-BE49-F238E27FC236}">
                <a16:creationId xmlns:a16="http://schemas.microsoft.com/office/drawing/2014/main" id="{48FD89A6-E972-4B9C-964D-920CD2D45F02}"/>
              </a:ext>
            </a:extLst>
          </p:cNvPr>
          <p:cNvSpPr/>
          <p:nvPr/>
        </p:nvSpPr>
        <p:spPr>
          <a:xfrm>
            <a:off x="461394" y="5404256"/>
            <a:ext cx="457200" cy="457200"/>
          </a:xfrm>
          <a:prstGeom prst="ellipse">
            <a:avLst/>
          </a:prstGeom>
          <a:solidFill>
            <a:srgbClr val="F391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Franklin Gothic Demi Cond" panose="020B0706030402020204" pitchFamily="34" charset="0"/>
              </a:rPr>
              <a:t>5</a:t>
            </a:r>
            <a:endParaRPr lang="es-ES" sz="2800">
              <a:latin typeface="Franklin Gothic Demi Cond" panose="020B0706030402020204" pitchFamily="34" charset="0"/>
            </a:endParaRPr>
          </a:p>
        </p:txBody>
      </p:sp>
      <p:sp>
        <p:nvSpPr>
          <p:cNvPr id="21" name="CuadroTexto 14">
            <a:extLst>
              <a:ext uri="{FF2B5EF4-FFF2-40B4-BE49-F238E27FC236}">
                <a16:creationId xmlns:a16="http://schemas.microsoft.com/office/drawing/2014/main" id="{41AD9D53-DB4E-4A68-96E4-FC56B46557DA}"/>
              </a:ext>
            </a:extLst>
          </p:cNvPr>
          <p:cNvSpPr txBox="1"/>
          <p:nvPr/>
        </p:nvSpPr>
        <p:spPr>
          <a:xfrm>
            <a:off x="918594" y="5404256"/>
            <a:ext cx="4114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Obtén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una </a:t>
            </a:r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columna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que </a:t>
            </a:r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te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muestre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la venta + IVA (16%) y nómbrala diferente </a:t>
            </a:r>
            <a:endParaRPr lang="es-ES" b="1">
              <a:solidFill>
                <a:srgbClr val="48809C"/>
              </a:solidFill>
              <a:latin typeface="Franklin Gothic Demi Cond" panose="020B0706030402020204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714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760C7E8-7C7A-42EE-B47B-FB0AE1FB9858}"/>
              </a:ext>
            </a:extLst>
          </p:cNvPr>
          <p:cNvSpPr txBox="1"/>
          <p:nvPr/>
        </p:nvSpPr>
        <p:spPr>
          <a:xfrm>
            <a:off x="450548" y="1056477"/>
            <a:ext cx="52437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>
                <a:solidFill>
                  <a:srgbClr val="48809C"/>
                </a:solidFill>
                <a:latin typeface="Franklin Gothic Demi Cond" panose="020B0706030402020204" pitchFamily="34" charset="0"/>
              </a:rPr>
              <a:t>La </a:t>
            </a:r>
            <a:r>
              <a:rPr lang="en-US" sz="5400" err="1">
                <a:solidFill>
                  <a:srgbClr val="48809C"/>
                </a:solidFill>
                <a:latin typeface="Franklin Gothic Demi Cond" panose="020B0706030402020204" pitchFamily="34" charset="0"/>
              </a:rPr>
              <a:t>cláusula</a:t>
            </a:r>
            <a:r>
              <a:rPr lang="en-US" sz="5400">
                <a:solidFill>
                  <a:srgbClr val="48809C"/>
                </a:solidFill>
                <a:latin typeface="Franklin Gothic Demi Cond" panose="020B0706030402020204" pitchFamily="34" charset="0"/>
              </a:rPr>
              <a:t> </a:t>
            </a:r>
            <a:r>
              <a:rPr lang="en-US" sz="5400">
                <a:solidFill>
                  <a:srgbClr val="F39112"/>
                </a:solidFill>
                <a:latin typeface="Franklin Gothic Demi Cond" panose="020B0706030402020204" pitchFamily="34" charset="0"/>
              </a:rPr>
              <a:t>WHERE</a:t>
            </a:r>
            <a:endParaRPr lang="es-ES" sz="5400">
              <a:solidFill>
                <a:srgbClr val="F39112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B32C91E1-9AD9-41BA-BD55-4F487E16117A}"/>
              </a:ext>
            </a:extLst>
          </p:cNvPr>
          <p:cNvSpPr/>
          <p:nvPr/>
        </p:nvSpPr>
        <p:spPr>
          <a:xfrm>
            <a:off x="176171" y="2119444"/>
            <a:ext cx="5654178" cy="4600138"/>
          </a:xfrm>
          <a:prstGeom prst="roundRect">
            <a:avLst/>
          </a:prstGeom>
          <a:solidFill>
            <a:schemeClr val="bg1"/>
          </a:solidFill>
          <a:ln>
            <a:solidFill>
              <a:srgbClr val="48809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">
              <a:solidFill>
                <a:schemeClr val="tx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6A986CE-9ABC-40EE-9D54-F45A5129DB23}"/>
              </a:ext>
            </a:extLst>
          </p:cNvPr>
          <p:cNvSpPr txBox="1"/>
          <p:nvPr/>
        </p:nvSpPr>
        <p:spPr>
          <a:xfrm>
            <a:off x="918594" y="2416029"/>
            <a:ext cx="3909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Traer </a:t>
            </a:r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todas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las </a:t>
            </a:r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ventas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de la zona 2</a:t>
            </a:r>
            <a:endParaRPr lang="es-ES" b="1">
              <a:solidFill>
                <a:srgbClr val="48809C"/>
              </a:solidFill>
              <a:latin typeface="Franklin Gothic Demi Cond" panose="020B0706030402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6E29C1E-6293-41C6-BBB7-2689CFFEA235}"/>
              </a:ext>
            </a:extLst>
          </p:cNvPr>
          <p:cNvSpPr txBox="1"/>
          <p:nvPr/>
        </p:nvSpPr>
        <p:spPr>
          <a:xfrm>
            <a:off x="8495262" y="2662949"/>
            <a:ext cx="2778143" cy="2554545"/>
          </a:xfrm>
          <a:prstGeom prst="rect">
            <a:avLst/>
          </a:prstGeom>
          <a:noFill/>
          <a:ln w="38100">
            <a:solidFill>
              <a:srgbClr val="48809C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WHERE filtra datos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Todos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los </a:t>
            </a: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operadores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de comparación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Filtrar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para un </a:t>
            </a: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texto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espécifico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(</a:t>
            </a: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comillas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)</a:t>
            </a:r>
          </a:p>
          <a:p>
            <a:endParaRPr lang="en-US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D33FF30-A45F-4CFA-8A56-5324B60FDA3B}"/>
              </a:ext>
            </a:extLst>
          </p:cNvPr>
          <p:cNvSpPr txBox="1"/>
          <p:nvPr/>
        </p:nvSpPr>
        <p:spPr>
          <a:xfrm>
            <a:off x="9019167" y="2119444"/>
            <a:ext cx="1721946" cy="523220"/>
          </a:xfrm>
          <a:prstGeom prst="rect">
            <a:avLst/>
          </a:prstGeom>
          <a:solidFill>
            <a:srgbClr val="F3911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  <a:latin typeface="Franklin Gothic Demi Cond" panose="020B0706030402020204" pitchFamily="34" charset="0"/>
              </a:rPr>
              <a:t>Importante</a:t>
            </a:r>
            <a:endParaRPr lang="es-ES" sz="28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12D2E1B0-319A-487F-8508-38EA415C6FAF}"/>
              </a:ext>
            </a:extLst>
          </p:cNvPr>
          <p:cNvSpPr/>
          <p:nvPr/>
        </p:nvSpPr>
        <p:spPr>
          <a:xfrm>
            <a:off x="461394" y="2416029"/>
            <a:ext cx="457200" cy="457200"/>
          </a:xfrm>
          <a:prstGeom prst="ellipse">
            <a:avLst/>
          </a:prstGeom>
          <a:solidFill>
            <a:srgbClr val="F391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Franklin Gothic Demi Cond" panose="020B0706030402020204" pitchFamily="34" charset="0"/>
              </a:rPr>
              <a:t>1</a:t>
            </a:r>
            <a:endParaRPr lang="es-ES" sz="2800">
              <a:latin typeface="Franklin Gothic Demi Cond" panose="020B070603040202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268B1F4-54EE-4F22-8FDA-464E33D82DE6}"/>
              </a:ext>
            </a:extLst>
          </p:cNvPr>
          <p:cNvSpPr txBox="1"/>
          <p:nvPr/>
        </p:nvSpPr>
        <p:spPr>
          <a:xfrm>
            <a:off x="907748" y="3149310"/>
            <a:ext cx="3909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Todos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las </a:t>
            </a:r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ventas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mayores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a 2,000,000</a:t>
            </a:r>
            <a:endParaRPr lang="es-ES" b="1">
              <a:solidFill>
                <a:srgbClr val="48809C"/>
              </a:solidFill>
              <a:latin typeface="Franklin Gothic Demi Cond" panose="020B0706030402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C3D2F73E-502F-489B-8D08-285CF1F50E6A}"/>
              </a:ext>
            </a:extLst>
          </p:cNvPr>
          <p:cNvSpPr/>
          <p:nvPr/>
        </p:nvSpPr>
        <p:spPr>
          <a:xfrm>
            <a:off x="450548" y="3149310"/>
            <a:ext cx="457200" cy="457200"/>
          </a:xfrm>
          <a:prstGeom prst="ellipse">
            <a:avLst/>
          </a:prstGeom>
          <a:solidFill>
            <a:srgbClr val="F391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Franklin Gothic Demi Cond" panose="020B0706030402020204" pitchFamily="34" charset="0"/>
              </a:rPr>
              <a:t>2</a:t>
            </a:r>
            <a:endParaRPr lang="es-ES" sz="2800">
              <a:latin typeface="Franklin Gothic Demi Cond" panose="020B0706030402020204" pitchFamily="34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901BC3A-7B9E-424B-B6BE-82F20F6478FE}"/>
              </a:ext>
            </a:extLst>
          </p:cNvPr>
          <p:cNvSpPr txBox="1"/>
          <p:nvPr/>
        </p:nvSpPr>
        <p:spPr>
          <a:xfrm>
            <a:off x="907748" y="3903095"/>
            <a:ext cx="3909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Todos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los </a:t>
            </a:r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productos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que </a:t>
            </a:r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sean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del cliente 7</a:t>
            </a:r>
            <a:endParaRPr lang="es-ES" b="1">
              <a:solidFill>
                <a:srgbClr val="48809C"/>
              </a:solidFill>
              <a:latin typeface="Franklin Gothic Demi Cond" panose="020B0706030402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6B4D7944-7AFC-4815-9DCB-959BAD109E11}"/>
              </a:ext>
            </a:extLst>
          </p:cNvPr>
          <p:cNvSpPr/>
          <p:nvPr/>
        </p:nvSpPr>
        <p:spPr>
          <a:xfrm>
            <a:off x="450548" y="3903095"/>
            <a:ext cx="457200" cy="457200"/>
          </a:xfrm>
          <a:prstGeom prst="ellipse">
            <a:avLst/>
          </a:prstGeom>
          <a:solidFill>
            <a:srgbClr val="F391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Franklin Gothic Demi Cond" panose="020B0706030402020204" pitchFamily="34" charset="0"/>
              </a:rPr>
              <a:t>3</a:t>
            </a:r>
            <a:endParaRPr lang="es-ES" sz="2800">
              <a:latin typeface="Franklin Gothic Demi Cond" panose="020B0706030402020204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04BD0AD-DE9B-42B5-88F1-E06523A56B74}"/>
              </a:ext>
            </a:extLst>
          </p:cNvPr>
          <p:cNvSpPr txBox="1"/>
          <p:nvPr/>
        </p:nvSpPr>
        <p:spPr>
          <a:xfrm>
            <a:off x="918594" y="4652119"/>
            <a:ext cx="3909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Trae </a:t>
            </a:r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toda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la venta que sean menores a 1,000,000</a:t>
            </a:r>
            <a:endParaRPr lang="es-ES" b="1">
              <a:solidFill>
                <a:srgbClr val="48809C"/>
              </a:solidFill>
              <a:latin typeface="Franklin Gothic Demi Cond" panose="020B0706030402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98DE4EE-552D-4AB0-956A-F25757036EBD}"/>
              </a:ext>
            </a:extLst>
          </p:cNvPr>
          <p:cNvSpPr/>
          <p:nvPr/>
        </p:nvSpPr>
        <p:spPr>
          <a:xfrm>
            <a:off x="461394" y="4652119"/>
            <a:ext cx="457200" cy="457200"/>
          </a:xfrm>
          <a:prstGeom prst="ellipse">
            <a:avLst/>
          </a:prstGeom>
          <a:solidFill>
            <a:srgbClr val="F391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Franklin Gothic Demi Cond" panose="020B0706030402020204" pitchFamily="34" charset="0"/>
              </a:rPr>
              <a:t>4</a:t>
            </a:r>
            <a:endParaRPr lang="es-ES" sz="2800">
              <a:latin typeface="Franklin Gothic Demi Cond" panose="020B07060304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149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760C7E8-7C7A-42EE-B47B-FB0AE1FB9858}"/>
              </a:ext>
            </a:extLst>
          </p:cNvPr>
          <p:cNvSpPr txBox="1"/>
          <p:nvPr/>
        </p:nvSpPr>
        <p:spPr>
          <a:xfrm>
            <a:off x="-19702" y="1091041"/>
            <a:ext cx="69299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err="1">
                <a:solidFill>
                  <a:srgbClr val="48809C"/>
                </a:solidFill>
                <a:latin typeface="Franklin Gothic Demi Cond" panose="020B0706030402020204" pitchFamily="34" charset="0"/>
              </a:rPr>
              <a:t>Operadores</a:t>
            </a:r>
            <a:r>
              <a:rPr lang="en-US" sz="5400">
                <a:solidFill>
                  <a:srgbClr val="48809C"/>
                </a:solidFill>
                <a:latin typeface="Franklin Gothic Demi Cond" panose="020B0706030402020204" pitchFamily="34" charset="0"/>
              </a:rPr>
              <a:t> </a:t>
            </a:r>
            <a:r>
              <a:rPr lang="en-US" sz="5400">
                <a:solidFill>
                  <a:srgbClr val="F39112"/>
                </a:solidFill>
                <a:latin typeface="Franklin Gothic Demi Cond" panose="020B0706030402020204" pitchFamily="34" charset="0"/>
              </a:rPr>
              <a:t>AND, OR, NOT</a:t>
            </a:r>
            <a:endParaRPr lang="es-ES" sz="5400">
              <a:solidFill>
                <a:srgbClr val="F39112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B32C91E1-9AD9-41BA-BD55-4F487E16117A}"/>
              </a:ext>
            </a:extLst>
          </p:cNvPr>
          <p:cNvSpPr/>
          <p:nvPr/>
        </p:nvSpPr>
        <p:spPr>
          <a:xfrm>
            <a:off x="176171" y="2119444"/>
            <a:ext cx="5654178" cy="4600138"/>
          </a:xfrm>
          <a:prstGeom prst="roundRect">
            <a:avLst/>
          </a:prstGeom>
          <a:solidFill>
            <a:schemeClr val="bg1"/>
          </a:solidFill>
          <a:ln>
            <a:solidFill>
              <a:srgbClr val="48809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">
              <a:solidFill>
                <a:schemeClr val="tx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6A986CE-9ABC-40EE-9D54-F45A5129DB23}"/>
              </a:ext>
            </a:extLst>
          </p:cNvPr>
          <p:cNvSpPr txBox="1"/>
          <p:nvPr/>
        </p:nvSpPr>
        <p:spPr>
          <a:xfrm>
            <a:off x="918594" y="2416029"/>
            <a:ext cx="3909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Traer </a:t>
            </a:r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todas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las </a:t>
            </a:r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ventas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mayores o iguales a 1,500,000 </a:t>
            </a:r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zona 2</a:t>
            </a:r>
            <a:endParaRPr lang="es-ES" b="1">
              <a:solidFill>
                <a:srgbClr val="48809C"/>
              </a:solidFill>
              <a:latin typeface="Franklin Gothic Demi Cond" panose="020B0706030402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6E29C1E-6293-41C6-BBB7-2689CFFEA235}"/>
              </a:ext>
            </a:extLst>
          </p:cNvPr>
          <p:cNvSpPr txBox="1"/>
          <p:nvPr/>
        </p:nvSpPr>
        <p:spPr>
          <a:xfrm>
            <a:off x="8495262" y="2662949"/>
            <a:ext cx="2778143" cy="2554545"/>
          </a:xfrm>
          <a:prstGeom prst="rect">
            <a:avLst/>
          </a:prstGeom>
          <a:noFill/>
          <a:ln w="38100">
            <a:solidFill>
              <a:srgbClr val="48809C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Estos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operadores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incrementan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el </a:t>
            </a: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criterio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tu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consulta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Van </a:t>
            </a: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seguido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de WHERE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El </a:t>
            </a: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orden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sí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importa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(AND, 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Puedes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usar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tantos </a:t>
            </a: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como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necesites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, </a:t>
            </a: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algunos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casos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es mejor </a:t>
            </a: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usar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b="1">
                <a:latin typeface="Segoe UI Light" panose="020B0502040204020203" pitchFamily="34" charset="0"/>
                <a:cs typeface="Segoe UI Light" panose="020B0502040204020203" pitchFamily="34" charset="0"/>
              </a:rPr>
              <a:t>NOT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D33FF30-A45F-4CFA-8A56-5324B60FDA3B}"/>
              </a:ext>
            </a:extLst>
          </p:cNvPr>
          <p:cNvSpPr txBox="1"/>
          <p:nvPr/>
        </p:nvSpPr>
        <p:spPr>
          <a:xfrm>
            <a:off x="9019167" y="2119444"/>
            <a:ext cx="1721946" cy="523220"/>
          </a:xfrm>
          <a:prstGeom prst="rect">
            <a:avLst/>
          </a:prstGeom>
          <a:solidFill>
            <a:srgbClr val="F3911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  <a:latin typeface="Franklin Gothic Demi Cond" panose="020B0706030402020204" pitchFamily="34" charset="0"/>
              </a:rPr>
              <a:t>Importante</a:t>
            </a:r>
            <a:endParaRPr lang="es-ES" sz="28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12D2E1B0-319A-487F-8508-38EA415C6FAF}"/>
              </a:ext>
            </a:extLst>
          </p:cNvPr>
          <p:cNvSpPr/>
          <p:nvPr/>
        </p:nvSpPr>
        <p:spPr>
          <a:xfrm>
            <a:off x="461394" y="2416029"/>
            <a:ext cx="457200" cy="457200"/>
          </a:xfrm>
          <a:prstGeom prst="ellipse">
            <a:avLst/>
          </a:prstGeom>
          <a:solidFill>
            <a:srgbClr val="F391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Franklin Gothic Demi Cond" panose="020B0706030402020204" pitchFamily="34" charset="0"/>
              </a:rPr>
              <a:t>1</a:t>
            </a:r>
            <a:endParaRPr lang="es-ES" sz="2800">
              <a:latin typeface="Franklin Gothic Demi Cond" panose="020B070603040202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268B1F4-54EE-4F22-8FDA-464E33D82DE6}"/>
              </a:ext>
            </a:extLst>
          </p:cNvPr>
          <p:cNvSpPr txBox="1"/>
          <p:nvPr/>
        </p:nvSpPr>
        <p:spPr>
          <a:xfrm>
            <a:off x="907748" y="3149310"/>
            <a:ext cx="3909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Todos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las </a:t>
            </a:r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ventas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menores a 500,000 </a:t>
            </a:r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la zona 2 que </a:t>
            </a:r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sean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del vendedor 2</a:t>
            </a:r>
            <a:endParaRPr lang="es-ES" b="1">
              <a:solidFill>
                <a:srgbClr val="48809C"/>
              </a:solidFill>
              <a:latin typeface="Franklin Gothic Demi Cond" panose="020B0706030402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C3D2F73E-502F-489B-8D08-285CF1F50E6A}"/>
              </a:ext>
            </a:extLst>
          </p:cNvPr>
          <p:cNvSpPr/>
          <p:nvPr/>
        </p:nvSpPr>
        <p:spPr>
          <a:xfrm>
            <a:off x="450548" y="3149310"/>
            <a:ext cx="457200" cy="457200"/>
          </a:xfrm>
          <a:prstGeom prst="ellipse">
            <a:avLst/>
          </a:prstGeom>
          <a:solidFill>
            <a:srgbClr val="F391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Franklin Gothic Demi Cond" panose="020B0706030402020204" pitchFamily="34" charset="0"/>
              </a:rPr>
              <a:t>2</a:t>
            </a:r>
            <a:endParaRPr lang="es-ES" sz="2800">
              <a:latin typeface="Franklin Gothic Demi Cond" panose="020B0706030402020204" pitchFamily="34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901BC3A-7B9E-424B-B6BE-82F20F6478FE}"/>
              </a:ext>
            </a:extLst>
          </p:cNvPr>
          <p:cNvSpPr txBox="1"/>
          <p:nvPr/>
        </p:nvSpPr>
        <p:spPr>
          <a:xfrm>
            <a:off x="907748" y="3903095"/>
            <a:ext cx="3909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Todas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las </a:t>
            </a:r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ventas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mayores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a 999,999 o que sean del vendedor 13</a:t>
            </a:r>
            <a:endParaRPr lang="es-ES" b="1">
              <a:solidFill>
                <a:srgbClr val="48809C"/>
              </a:solidFill>
              <a:latin typeface="Franklin Gothic Demi Cond" panose="020B0706030402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6B4D7944-7AFC-4815-9DCB-959BAD109E11}"/>
              </a:ext>
            </a:extLst>
          </p:cNvPr>
          <p:cNvSpPr/>
          <p:nvPr/>
        </p:nvSpPr>
        <p:spPr>
          <a:xfrm>
            <a:off x="450548" y="3903095"/>
            <a:ext cx="457200" cy="457200"/>
          </a:xfrm>
          <a:prstGeom prst="ellipse">
            <a:avLst/>
          </a:prstGeom>
          <a:solidFill>
            <a:srgbClr val="F391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Franklin Gothic Demi Cond" panose="020B0706030402020204" pitchFamily="34" charset="0"/>
              </a:rPr>
              <a:t>3</a:t>
            </a:r>
            <a:endParaRPr lang="es-ES" sz="2800">
              <a:latin typeface="Franklin Gothic Demi Cond" panose="020B0706030402020204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04BD0AD-DE9B-42B5-88F1-E06523A56B74}"/>
              </a:ext>
            </a:extLst>
          </p:cNvPr>
          <p:cNvSpPr txBox="1"/>
          <p:nvPr/>
        </p:nvSpPr>
        <p:spPr>
          <a:xfrm>
            <a:off x="918594" y="4652119"/>
            <a:ext cx="3909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Trae </a:t>
            </a:r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toda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la venta que </a:t>
            </a:r>
            <a:r>
              <a:rPr lang="en-US" b="1">
                <a:latin typeface="Segoe UI Light" panose="020B0502040204020203" pitchFamily="34" charset="0"/>
                <a:cs typeface="Segoe UI Light" panose="020B0502040204020203" pitchFamily="34" charset="0"/>
              </a:rPr>
              <a:t>NO 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sea del cliente 10</a:t>
            </a:r>
            <a:endParaRPr lang="es-ES" b="1">
              <a:solidFill>
                <a:srgbClr val="48809C"/>
              </a:solidFill>
              <a:latin typeface="Franklin Gothic Demi Cond" panose="020B0706030402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A98DE4EE-552D-4AB0-956A-F25757036EBD}"/>
              </a:ext>
            </a:extLst>
          </p:cNvPr>
          <p:cNvSpPr/>
          <p:nvPr/>
        </p:nvSpPr>
        <p:spPr>
          <a:xfrm>
            <a:off x="461394" y="4652119"/>
            <a:ext cx="457200" cy="457200"/>
          </a:xfrm>
          <a:prstGeom prst="ellipse">
            <a:avLst/>
          </a:prstGeom>
          <a:solidFill>
            <a:srgbClr val="F391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Franklin Gothic Demi Cond" panose="020B0706030402020204" pitchFamily="34" charset="0"/>
              </a:rPr>
              <a:t>4</a:t>
            </a:r>
            <a:endParaRPr lang="es-ES" sz="2800">
              <a:latin typeface="Franklin Gothic Demi Cond" panose="020B07060304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3474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760C7E8-7C7A-42EE-B47B-FB0AE1FB9858}"/>
              </a:ext>
            </a:extLst>
          </p:cNvPr>
          <p:cNvSpPr txBox="1"/>
          <p:nvPr/>
        </p:nvSpPr>
        <p:spPr>
          <a:xfrm>
            <a:off x="1403439" y="1056477"/>
            <a:ext cx="33379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 err="1">
                <a:solidFill>
                  <a:srgbClr val="48809C"/>
                </a:solidFill>
                <a:latin typeface="Franklin Gothic Demi Cond" panose="020B0706030402020204" pitchFamily="34" charset="0"/>
              </a:rPr>
              <a:t>Operador</a:t>
            </a:r>
            <a:r>
              <a:rPr lang="en-US" sz="5400">
                <a:solidFill>
                  <a:srgbClr val="48809C"/>
                </a:solidFill>
                <a:latin typeface="Franklin Gothic Demi Cond" panose="020B0706030402020204" pitchFamily="34" charset="0"/>
              </a:rPr>
              <a:t> </a:t>
            </a:r>
            <a:r>
              <a:rPr lang="en-US" sz="5400">
                <a:solidFill>
                  <a:srgbClr val="F39112"/>
                </a:solidFill>
                <a:latin typeface="Franklin Gothic Demi Cond" panose="020B0706030402020204" pitchFamily="34" charset="0"/>
              </a:rPr>
              <a:t>IN</a:t>
            </a:r>
            <a:endParaRPr lang="es-ES" sz="5400">
              <a:solidFill>
                <a:srgbClr val="F39112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B32C91E1-9AD9-41BA-BD55-4F487E16117A}"/>
              </a:ext>
            </a:extLst>
          </p:cNvPr>
          <p:cNvSpPr/>
          <p:nvPr/>
        </p:nvSpPr>
        <p:spPr>
          <a:xfrm>
            <a:off x="131782" y="2119444"/>
            <a:ext cx="5654178" cy="4600138"/>
          </a:xfrm>
          <a:prstGeom prst="roundRect">
            <a:avLst/>
          </a:prstGeom>
          <a:solidFill>
            <a:schemeClr val="bg1"/>
          </a:solidFill>
          <a:ln>
            <a:solidFill>
              <a:srgbClr val="48809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">
              <a:solidFill>
                <a:schemeClr val="tx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6A986CE-9ABC-40EE-9D54-F45A5129DB23}"/>
              </a:ext>
            </a:extLst>
          </p:cNvPr>
          <p:cNvSpPr txBox="1"/>
          <p:nvPr/>
        </p:nvSpPr>
        <p:spPr>
          <a:xfrm>
            <a:off x="918594" y="2416029"/>
            <a:ext cx="3909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Obtén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las </a:t>
            </a:r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ventas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de la zona del 1 al 4</a:t>
            </a:r>
            <a:endParaRPr lang="es-ES" b="1">
              <a:solidFill>
                <a:srgbClr val="48809C"/>
              </a:solidFill>
              <a:latin typeface="Franklin Gothic Demi Cond" panose="020B0706030402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6E29C1E-6293-41C6-BBB7-2689CFFEA235}"/>
              </a:ext>
            </a:extLst>
          </p:cNvPr>
          <p:cNvSpPr txBox="1"/>
          <p:nvPr/>
        </p:nvSpPr>
        <p:spPr>
          <a:xfrm>
            <a:off x="8495262" y="2662949"/>
            <a:ext cx="2778143" cy="2554545"/>
          </a:xfrm>
          <a:prstGeom prst="rect">
            <a:avLst/>
          </a:prstGeom>
          <a:noFill/>
          <a:ln w="38100">
            <a:solidFill>
              <a:srgbClr val="48809C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IN es </a:t>
            </a: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usado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después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de WHERE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Nos </a:t>
            </a: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ayuda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a </a:t>
            </a: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simplificar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mi consulta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Recuerda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usar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comillas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con </a:t>
            </a: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texto</a:t>
            </a:r>
            <a:endParaRPr lang="en-US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Se </a:t>
            </a: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separa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por una coma y los </a:t>
            </a: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criterios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van entre </a:t>
            </a:r>
            <a:r>
              <a:rPr lang="en-US" sz="1600" err="1">
                <a:latin typeface="Segoe UI Light" panose="020B0502040204020203" pitchFamily="34" charset="0"/>
                <a:cs typeface="Segoe UI Light" panose="020B0502040204020203" pitchFamily="34" charset="0"/>
              </a:rPr>
              <a:t>paréntesis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D33FF30-A45F-4CFA-8A56-5324B60FDA3B}"/>
              </a:ext>
            </a:extLst>
          </p:cNvPr>
          <p:cNvSpPr txBox="1"/>
          <p:nvPr/>
        </p:nvSpPr>
        <p:spPr>
          <a:xfrm>
            <a:off x="9019167" y="2119444"/>
            <a:ext cx="1721946" cy="523220"/>
          </a:xfrm>
          <a:prstGeom prst="rect">
            <a:avLst/>
          </a:prstGeom>
          <a:solidFill>
            <a:srgbClr val="F3911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  <a:latin typeface="Franklin Gothic Demi Cond" panose="020B0706030402020204" pitchFamily="34" charset="0"/>
              </a:rPr>
              <a:t>Importante</a:t>
            </a:r>
            <a:endParaRPr lang="es-ES" sz="28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12D2E1B0-319A-487F-8508-38EA415C6FAF}"/>
              </a:ext>
            </a:extLst>
          </p:cNvPr>
          <p:cNvSpPr/>
          <p:nvPr/>
        </p:nvSpPr>
        <p:spPr>
          <a:xfrm>
            <a:off x="461394" y="2416029"/>
            <a:ext cx="457200" cy="457200"/>
          </a:xfrm>
          <a:prstGeom prst="ellipse">
            <a:avLst/>
          </a:prstGeom>
          <a:solidFill>
            <a:srgbClr val="F391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Franklin Gothic Demi Cond" panose="020B0706030402020204" pitchFamily="34" charset="0"/>
              </a:rPr>
              <a:t>1</a:t>
            </a:r>
            <a:endParaRPr lang="es-ES" sz="2800">
              <a:latin typeface="Franklin Gothic Demi Cond" panose="020B070603040202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268B1F4-54EE-4F22-8FDA-464E33D82DE6}"/>
              </a:ext>
            </a:extLst>
          </p:cNvPr>
          <p:cNvSpPr txBox="1"/>
          <p:nvPr/>
        </p:nvSpPr>
        <p:spPr>
          <a:xfrm>
            <a:off x="907748" y="3149310"/>
            <a:ext cx="3909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Obtén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las </a:t>
            </a:r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ventas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que</a:t>
            </a:r>
            <a:r>
              <a:rPr lang="en-US" b="1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haya realizado el consumidor 6,7, 8 y 9.</a:t>
            </a:r>
            <a:endParaRPr lang="es-ES" b="1">
              <a:solidFill>
                <a:srgbClr val="48809C"/>
              </a:solidFill>
              <a:latin typeface="Franklin Gothic Demi Cond" panose="020B0706030402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C3D2F73E-502F-489B-8D08-285CF1F50E6A}"/>
              </a:ext>
            </a:extLst>
          </p:cNvPr>
          <p:cNvSpPr/>
          <p:nvPr/>
        </p:nvSpPr>
        <p:spPr>
          <a:xfrm>
            <a:off x="450548" y="3149310"/>
            <a:ext cx="457200" cy="457200"/>
          </a:xfrm>
          <a:prstGeom prst="ellipse">
            <a:avLst/>
          </a:prstGeom>
          <a:solidFill>
            <a:srgbClr val="F391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Franklin Gothic Demi Cond" panose="020B0706030402020204" pitchFamily="34" charset="0"/>
              </a:rPr>
              <a:t>2</a:t>
            </a:r>
            <a:endParaRPr lang="es-ES" sz="2800">
              <a:latin typeface="Franklin Gothic Demi Cond" panose="020B0706030402020204" pitchFamily="34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901BC3A-7B9E-424B-B6BE-82F20F6478FE}"/>
              </a:ext>
            </a:extLst>
          </p:cNvPr>
          <p:cNvSpPr txBox="1"/>
          <p:nvPr/>
        </p:nvSpPr>
        <p:spPr>
          <a:xfrm>
            <a:off x="907748" y="3903095"/>
            <a:ext cx="3909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Obtén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las </a:t>
            </a:r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ventas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que </a:t>
            </a:r>
            <a:r>
              <a:rPr lang="en-US" b="1">
                <a:latin typeface="Segoe UI Light" panose="020B0502040204020203" pitchFamily="34" charset="0"/>
                <a:cs typeface="Segoe UI Light" panose="020B0502040204020203" pitchFamily="34" charset="0"/>
              </a:rPr>
              <a:t>NO </a:t>
            </a:r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sean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del vendedor 15, 21 y 35.</a:t>
            </a:r>
            <a:endParaRPr lang="es-ES" b="1">
              <a:solidFill>
                <a:srgbClr val="48809C"/>
              </a:solidFill>
              <a:latin typeface="Franklin Gothic Demi Cond" panose="020B0706030402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6B4D7944-7AFC-4815-9DCB-959BAD109E11}"/>
              </a:ext>
            </a:extLst>
          </p:cNvPr>
          <p:cNvSpPr/>
          <p:nvPr/>
        </p:nvSpPr>
        <p:spPr>
          <a:xfrm>
            <a:off x="450548" y="3903095"/>
            <a:ext cx="457200" cy="457200"/>
          </a:xfrm>
          <a:prstGeom prst="ellipse">
            <a:avLst/>
          </a:prstGeom>
          <a:solidFill>
            <a:srgbClr val="F391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Franklin Gothic Demi Cond" panose="020B0706030402020204" pitchFamily="34" charset="0"/>
              </a:rPr>
              <a:t>3</a:t>
            </a:r>
            <a:endParaRPr lang="es-ES" sz="2800">
              <a:latin typeface="Franklin Gothic Demi Cond" panose="020B07060304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212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760C7E8-7C7A-42EE-B47B-FB0AE1FB9858}"/>
              </a:ext>
            </a:extLst>
          </p:cNvPr>
          <p:cNvSpPr txBox="1"/>
          <p:nvPr/>
        </p:nvSpPr>
        <p:spPr>
          <a:xfrm>
            <a:off x="313943" y="1024294"/>
            <a:ext cx="77433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>
                <a:solidFill>
                  <a:srgbClr val="F39112"/>
                </a:solidFill>
                <a:latin typeface="Franklin Gothic Demi Cond" panose="020B0706030402020204" pitchFamily="34" charset="0"/>
              </a:rPr>
              <a:t>REGEXP</a:t>
            </a:r>
            <a:r>
              <a:rPr lang="en-US" sz="5400">
                <a:solidFill>
                  <a:srgbClr val="48809C"/>
                </a:solidFill>
                <a:latin typeface="Franklin Gothic Demi Cond" panose="020B0706030402020204" pitchFamily="34" charset="0"/>
              </a:rPr>
              <a:t> (regular expression)</a:t>
            </a:r>
            <a:endParaRPr lang="es-ES" sz="5400">
              <a:solidFill>
                <a:srgbClr val="F39112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B32C91E1-9AD9-41BA-BD55-4F487E16117A}"/>
              </a:ext>
            </a:extLst>
          </p:cNvPr>
          <p:cNvSpPr/>
          <p:nvPr/>
        </p:nvSpPr>
        <p:spPr>
          <a:xfrm>
            <a:off x="131782" y="2119444"/>
            <a:ext cx="5654178" cy="4600138"/>
          </a:xfrm>
          <a:prstGeom prst="roundRect">
            <a:avLst/>
          </a:prstGeom>
          <a:solidFill>
            <a:schemeClr val="bg1"/>
          </a:solidFill>
          <a:ln>
            <a:solidFill>
              <a:srgbClr val="48809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">
              <a:solidFill>
                <a:schemeClr val="tx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6A986CE-9ABC-40EE-9D54-F45A5129DB23}"/>
              </a:ext>
            </a:extLst>
          </p:cNvPr>
          <p:cNvSpPr txBox="1"/>
          <p:nvPr/>
        </p:nvSpPr>
        <p:spPr>
          <a:xfrm>
            <a:off x="918594" y="2416029"/>
            <a:ext cx="3909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>
                <a:latin typeface="Segoe UI Light" panose="020B0502040204020203" pitchFamily="34" charset="0"/>
                <a:cs typeface="Segoe UI Light" panose="020B0502040204020203" pitchFamily="34" charset="0"/>
              </a:rPr>
              <a:t>Obtén</a:t>
            </a: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 los apellidos del personal de ventas que termine en “ez”</a:t>
            </a:r>
            <a:endParaRPr lang="es-ES" b="1">
              <a:solidFill>
                <a:srgbClr val="48809C"/>
              </a:solidFill>
              <a:latin typeface="Franklin Gothic Demi Cond" panose="020B0706030402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6E29C1E-6293-41C6-BBB7-2689CFFEA235}"/>
              </a:ext>
            </a:extLst>
          </p:cNvPr>
          <p:cNvSpPr txBox="1"/>
          <p:nvPr/>
        </p:nvSpPr>
        <p:spPr>
          <a:xfrm>
            <a:off x="8495262" y="2662949"/>
            <a:ext cx="2778143" cy="2308324"/>
          </a:xfrm>
          <a:prstGeom prst="rect">
            <a:avLst/>
          </a:prstGeom>
          <a:noFill/>
          <a:ln w="38100">
            <a:solidFill>
              <a:srgbClr val="48809C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Identifica el patron que quieres encontra, los caracteres ^,$,|, [ ] indican diferentes opciones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Útil en cadenas de texto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Recuerda que la estructura cuenta: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WHERE </a:t>
            </a:r>
            <a:r>
              <a:rPr lang="en-US" sz="1600" i="1">
                <a:latin typeface="Segoe UI Light" panose="020B0502040204020203" pitchFamily="34" charset="0"/>
                <a:cs typeface="Segoe UI Light" panose="020B0502040204020203" pitchFamily="34" charset="0"/>
              </a:rPr>
              <a:t>columna 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REGEXP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D33FF30-A45F-4CFA-8A56-5324B60FDA3B}"/>
              </a:ext>
            </a:extLst>
          </p:cNvPr>
          <p:cNvSpPr txBox="1"/>
          <p:nvPr/>
        </p:nvSpPr>
        <p:spPr>
          <a:xfrm>
            <a:off x="9019167" y="2119444"/>
            <a:ext cx="1721946" cy="523220"/>
          </a:xfrm>
          <a:prstGeom prst="rect">
            <a:avLst/>
          </a:prstGeom>
          <a:solidFill>
            <a:srgbClr val="F3911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  <a:latin typeface="Franklin Gothic Demi Cond" panose="020B0706030402020204" pitchFamily="34" charset="0"/>
              </a:rPr>
              <a:t>Importante</a:t>
            </a:r>
            <a:endParaRPr lang="es-ES" sz="28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12D2E1B0-319A-487F-8508-38EA415C6FAF}"/>
              </a:ext>
            </a:extLst>
          </p:cNvPr>
          <p:cNvSpPr/>
          <p:nvPr/>
        </p:nvSpPr>
        <p:spPr>
          <a:xfrm>
            <a:off x="461394" y="2416029"/>
            <a:ext cx="457200" cy="457200"/>
          </a:xfrm>
          <a:prstGeom prst="ellipse">
            <a:avLst/>
          </a:prstGeom>
          <a:solidFill>
            <a:srgbClr val="F391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Franklin Gothic Demi Cond" panose="020B0706030402020204" pitchFamily="34" charset="0"/>
              </a:rPr>
              <a:t>1</a:t>
            </a:r>
            <a:endParaRPr lang="es-ES" sz="2800">
              <a:latin typeface="Franklin Gothic Demi Cond" panose="020B070603040202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268B1F4-54EE-4F22-8FDA-464E33D82DE6}"/>
              </a:ext>
            </a:extLst>
          </p:cNvPr>
          <p:cNvSpPr txBox="1"/>
          <p:nvPr/>
        </p:nvSpPr>
        <p:spPr>
          <a:xfrm>
            <a:off x="907747" y="3260272"/>
            <a:ext cx="3909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Agrega la columna de nombre para tener las 2 columnas, nombre y apellidos</a:t>
            </a:r>
            <a:endParaRPr lang="es-ES" b="1">
              <a:solidFill>
                <a:srgbClr val="48809C"/>
              </a:solidFill>
              <a:latin typeface="Franklin Gothic Demi Cond" panose="020B0706030402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C3D2F73E-502F-489B-8D08-285CF1F50E6A}"/>
              </a:ext>
            </a:extLst>
          </p:cNvPr>
          <p:cNvSpPr/>
          <p:nvPr/>
        </p:nvSpPr>
        <p:spPr>
          <a:xfrm>
            <a:off x="450548" y="3149310"/>
            <a:ext cx="457200" cy="457200"/>
          </a:xfrm>
          <a:prstGeom prst="ellipse">
            <a:avLst/>
          </a:prstGeom>
          <a:solidFill>
            <a:srgbClr val="F391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Franklin Gothic Demi Cond" panose="020B0706030402020204" pitchFamily="34" charset="0"/>
              </a:rPr>
              <a:t>2</a:t>
            </a:r>
            <a:endParaRPr lang="es-ES" sz="2800">
              <a:latin typeface="Franklin Gothic Demi Cond" panose="020B0706030402020204" pitchFamily="34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901BC3A-7B9E-424B-B6BE-82F20F6478FE}"/>
              </a:ext>
            </a:extLst>
          </p:cNvPr>
          <p:cNvSpPr txBox="1"/>
          <p:nvPr/>
        </p:nvSpPr>
        <p:spPr>
          <a:xfrm>
            <a:off x="918593" y="4476229"/>
            <a:ext cx="3909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Crea una consulta para tener los apellidos que terminen en “ez” o inicien en “sa”</a:t>
            </a:r>
            <a:endParaRPr lang="es-ES" b="1">
              <a:solidFill>
                <a:srgbClr val="48809C"/>
              </a:solidFill>
              <a:latin typeface="Franklin Gothic Demi Cond" panose="020B0706030402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6B4D7944-7AFC-4815-9DCB-959BAD109E11}"/>
              </a:ext>
            </a:extLst>
          </p:cNvPr>
          <p:cNvSpPr/>
          <p:nvPr/>
        </p:nvSpPr>
        <p:spPr>
          <a:xfrm>
            <a:off x="450548" y="4387908"/>
            <a:ext cx="457200" cy="457200"/>
          </a:xfrm>
          <a:prstGeom prst="ellipse">
            <a:avLst/>
          </a:prstGeom>
          <a:solidFill>
            <a:srgbClr val="F391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Franklin Gothic Demi Cond" panose="020B0706030402020204" pitchFamily="34" charset="0"/>
              </a:rPr>
              <a:t>3</a:t>
            </a:r>
            <a:endParaRPr lang="es-ES" sz="2800">
              <a:latin typeface="Franklin Gothic Demi Cond" panose="020B07060304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486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760C7E8-7C7A-42EE-B47B-FB0AE1FB9858}"/>
              </a:ext>
            </a:extLst>
          </p:cNvPr>
          <p:cNvSpPr txBox="1"/>
          <p:nvPr/>
        </p:nvSpPr>
        <p:spPr>
          <a:xfrm>
            <a:off x="1398095" y="1027802"/>
            <a:ext cx="21082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>
                <a:solidFill>
                  <a:srgbClr val="F39112"/>
                </a:solidFill>
                <a:latin typeface="Franklin Gothic Demi Cond" panose="020B0706030402020204" pitchFamily="34" charset="0"/>
              </a:rPr>
              <a:t>ISNULL</a:t>
            </a:r>
            <a:endParaRPr lang="es-ES" sz="5400">
              <a:solidFill>
                <a:srgbClr val="F39112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B32C91E1-9AD9-41BA-BD55-4F487E16117A}"/>
              </a:ext>
            </a:extLst>
          </p:cNvPr>
          <p:cNvSpPr/>
          <p:nvPr/>
        </p:nvSpPr>
        <p:spPr>
          <a:xfrm>
            <a:off x="195392" y="2119444"/>
            <a:ext cx="5654178" cy="4600138"/>
          </a:xfrm>
          <a:prstGeom prst="roundRect">
            <a:avLst/>
          </a:prstGeom>
          <a:solidFill>
            <a:schemeClr val="bg1"/>
          </a:solidFill>
          <a:ln>
            <a:solidFill>
              <a:srgbClr val="48809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">
              <a:solidFill>
                <a:schemeClr val="tx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6A986CE-9ABC-40EE-9D54-F45A5129DB23}"/>
              </a:ext>
            </a:extLst>
          </p:cNvPr>
          <p:cNvSpPr txBox="1"/>
          <p:nvPr/>
        </p:nvSpPr>
        <p:spPr>
          <a:xfrm>
            <a:off x="1067846" y="3491750"/>
            <a:ext cx="39092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Tenemos un cliente que no tiene teléfono, necesitamos identificarlo para poder actualizar la base de datos, qué cliente es?</a:t>
            </a:r>
            <a:endParaRPr lang="es-ES" b="1">
              <a:solidFill>
                <a:srgbClr val="48809C"/>
              </a:solidFill>
              <a:latin typeface="Franklin Gothic Demi Cond" panose="020B0706030402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6E29C1E-6293-41C6-BBB7-2689CFFEA235}"/>
              </a:ext>
            </a:extLst>
          </p:cNvPr>
          <p:cNvSpPr txBox="1"/>
          <p:nvPr/>
        </p:nvSpPr>
        <p:spPr>
          <a:xfrm>
            <a:off x="8495262" y="2662949"/>
            <a:ext cx="2778143" cy="2062103"/>
          </a:xfrm>
          <a:prstGeom prst="rect">
            <a:avLst/>
          </a:prstGeom>
          <a:noFill/>
          <a:ln w="38100">
            <a:solidFill>
              <a:srgbClr val="48809C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ISNULL me permite encontrar registros sin valores.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Puede ser un gran aliado para encontrar errores en bases de datos o registros nulos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D33FF30-A45F-4CFA-8A56-5324B60FDA3B}"/>
              </a:ext>
            </a:extLst>
          </p:cNvPr>
          <p:cNvSpPr txBox="1"/>
          <p:nvPr/>
        </p:nvSpPr>
        <p:spPr>
          <a:xfrm>
            <a:off x="9019167" y="2119444"/>
            <a:ext cx="1721945" cy="523220"/>
          </a:xfrm>
          <a:prstGeom prst="rect">
            <a:avLst/>
          </a:prstGeom>
          <a:solidFill>
            <a:srgbClr val="F3911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  <a:latin typeface="Franklin Gothic Demi Cond" panose="020B0706030402020204" pitchFamily="34" charset="0"/>
              </a:rPr>
              <a:t>Importante</a:t>
            </a:r>
            <a:endParaRPr lang="es-ES" sz="28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12D2E1B0-319A-487F-8508-38EA415C6FAF}"/>
              </a:ext>
            </a:extLst>
          </p:cNvPr>
          <p:cNvSpPr/>
          <p:nvPr/>
        </p:nvSpPr>
        <p:spPr>
          <a:xfrm>
            <a:off x="461395" y="3429000"/>
            <a:ext cx="457200" cy="457200"/>
          </a:xfrm>
          <a:prstGeom prst="ellipse">
            <a:avLst/>
          </a:prstGeom>
          <a:solidFill>
            <a:srgbClr val="F391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Franklin Gothic Demi Cond" panose="020B0706030402020204" pitchFamily="34" charset="0"/>
              </a:rPr>
              <a:t>1</a:t>
            </a:r>
            <a:endParaRPr lang="es-ES" sz="2800">
              <a:latin typeface="Franklin Gothic Demi Cond" panose="020B07060304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676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B32C91E1-9AD9-41BA-BD55-4F487E16117A}"/>
              </a:ext>
            </a:extLst>
          </p:cNvPr>
          <p:cNvSpPr/>
          <p:nvPr/>
        </p:nvSpPr>
        <p:spPr>
          <a:xfrm>
            <a:off x="195392" y="2119444"/>
            <a:ext cx="5654178" cy="4600138"/>
          </a:xfrm>
          <a:prstGeom prst="roundRect">
            <a:avLst/>
          </a:prstGeom>
          <a:solidFill>
            <a:schemeClr val="bg1"/>
          </a:solidFill>
          <a:ln>
            <a:solidFill>
              <a:srgbClr val="48809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">
              <a:solidFill>
                <a:schemeClr val="tx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760C7E8-7C7A-42EE-B47B-FB0AE1FB9858}"/>
              </a:ext>
            </a:extLst>
          </p:cNvPr>
          <p:cNvSpPr txBox="1"/>
          <p:nvPr/>
        </p:nvSpPr>
        <p:spPr>
          <a:xfrm>
            <a:off x="1015781" y="1027802"/>
            <a:ext cx="28729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>
                <a:solidFill>
                  <a:srgbClr val="F39112"/>
                </a:solidFill>
                <a:latin typeface="Franklin Gothic Demi Cond" panose="020B0706030402020204" pitchFamily="34" charset="0"/>
              </a:rPr>
              <a:t>ORDER BY</a:t>
            </a:r>
            <a:endParaRPr lang="es-ES" sz="5400">
              <a:solidFill>
                <a:srgbClr val="F39112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6A986CE-9ABC-40EE-9D54-F45A5129DB23}"/>
              </a:ext>
            </a:extLst>
          </p:cNvPr>
          <p:cNvSpPr txBox="1"/>
          <p:nvPr/>
        </p:nvSpPr>
        <p:spPr>
          <a:xfrm>
            <a:off x="1046560" y="2381054"/>
            <a:ext cx="3909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Ordena la información de los vendedores por nombre en forma descendiente.</a:t>
            </a:r>
            <a:endParaRPr lang="es-ES" b="1">
              <a:solidFill>
                <a:srgbClr val="48809C"/>
              </a:solidFill>
              <a:latin typeface="Franklin Gothic Demi Cond" panose="020B0706030402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6E29C1E-6293-41C6-BBB7-2689CFFEA235}"/>
              </a:ext>
            </a:extLst>
          </p:cNvPr>
          <p:cNvSpPr txBox="1"/>
          <p:nvPr/>
        </p:nvSpPr>
        <p:spPr>
          <a:xfrm>
            <a:off x="8495262" y="2662949"/>
            <a:ext cx="2778143" cy="1815882"/>
          </a:xfrm>
          <a:prstGeom prst="rect">
            <a:avLst/>
          </a:prstGeom>
          <a:noFill/>
          <a:ln w="38100">
            <a:solidFill>
              <a:srgbClr val="48809C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Ordenar los datos me permite tener crear vistas y traer resultados con criterios específicos.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Recuerda el uso de </a:t>
            </a:r>
            <a:r>
              <a:rPr lang="en-US" sz="1600" b="1">
                <a:latin typeface="Segoe UI Light" panose="020B0502040204020203" pitchFamily="34" charset="0"/>
                <a:cs typeface="Segoe UI Light" panose="020B0502040204020203" pitchFamily="34" charset="0"/>
              </a:rPr>
              <a:t>ASC 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y </a:t>
            </a:r>
            <a:r>
              <a:rPr lang="en-US" sz="1600" b="1">
                <a:latin typeface="Segoe UI Light" panose="020B0502040204020203" pitchFamily="34" charset="0"/>
                <a:cs typeface="Segoe UI Light" panose="020B0502040204020203" pitchFamily="34" charset="0"/>
              </a:rPr>
              <a:t>DESC</a:t>
            </a: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D33FF30-A45F-4CFA-8A56-5324B60FDA3B}"/>
              </a:ext>
            </a:extLst>
          </p:cNvPr>
          <p:cNvSpPr txBox="1"/>
          <p:nvPr/>
        </p:nvSpPr>
        <p:spPr>
          <a:xfrm>
            <a:off x="9019167" y="2119444"/>
            <a:ext cx="1721945" cy="523220"/>
          </a:xfrm>
          <a:prstGeom prst="rect">
            <a:avLst/>
          </a:prstGeom>
          <a:solidFill>
            <a:srgbClr val="F3911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  <a:latin typeface="Franklin Gothic Demi Cond" panose="020B0706030402020204" pitchFamily="34" charset="0"/>
              </a:rPr>
              <a:t>Importante</a:t>
            </a:r>
            <a:endParaRPr lang="es-ES" sz="28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12D2E1B0-319A-487F-8508-38EA415C6FAF}"/>
              </a:ext>
            </a:extLst>
          </p:cNvPr>
          <p:cNvSpPr/>
          <p:nvPr/>
        </p:nvSpPr>
        <p:spPr>
          <a:xfrm>
            <a:off x="461395" y="2381054"/>
            <a:ext cx="457200" cy="457200"/>
          </a:xfrm>
          <a:prstGeom prst="ellipse">
            <a:avLst/>
          </a:prstGeom>
          <a:solidFill>
            <a:srgbClr val="F391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Franklin Gothic Demi Cond" panose="020B0706030402020204" pitchFamily="34" charset="0"/>
              </a:rPr>
              <a:t>1</a:t>
            </a:r>
            <a:endParaRPr lang="es-ES" sz="2800">
              <a:latin typeface="Franklin Gothic Demi Cond" panose="020B0706030402020204" pitchFamily="34" charset="0"/>
            </a:endParaRPr>
          </a:p>
        </p:txBody>
      </p:sp>
      <p:sp>
        <p:nvSpPr>
          <p:cNvPr id="11" name="CuadroTexto 19">
            <a:extLst>
              <a:ext uri="{FF2B5EF4-FFF2-40B4-BE49-F238E27FC236}">
                <a16:creationId xmlns:a16="http://schemas.microsoft.com/office/drawing/2014/main" id="{A092F0F7-1DF3-425A-82A4-E891F9520ACC}"/>
              </a:ext>
            </a:extLst>
          </p:cNvPr>
          <p:cNvSpPr txBox="1"/>
          <p:nvPr/>
        </p:nvSpPr>
        <p:spPr>
          <a:xfrm>
            <a:off x="1015781" y="3573329"/>
            <a:ext cx="3909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Ordena ahora los datos de los vendedores por nombre y después por apellido.</a:t>
            </a:r>
            <a:endParaRPr lang="es-ES" b="1">
              <a:solidFill>
                <a:srgbClr val="48809C"/>
              </a:solidFill>
              <a:latin typeface="Franklin Gothic Demi Cond" panose="020B0706030402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13" name="Elipse 20">
            <a:extLst>
              <a:ext uri="{FF2B5EF4-FFF2-40B4-BE49-F238E27FC236}">
                <a16:creationId xmlns:a16="http://schemas.microsoft.com/office/drawing/2014/main" id="{4808000B-FABF-4A6A-9301-8C77CE416E84}"/>
              </a:ext>
            </a:extLst>
          </p:cNvPr>
          <p:cNvSpPr/>
          <p:nvPr/>
        </p:nvSpPr>
        <p:spPr>
          <a:xfrm>
            <a:off x="452048" y="3464782"/>
            <a:ext cx="457200" cy="457200"/>
          </a:xfrm>
          <a:prstGeom prst="ellipse">
            <a:avLst/>
          </a:prstGeom>
          <a:solidFill>
            <a:srgbClr val="F391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Franklin Gothic Demi Cond" panose="020B0706030402020204" pitchFamily="34" charset="0"/>
              </a:rPr>
              <a:t>2</a:t>
            </a:r>
            <a:endParaRPr lang="es-ES" sz="2800">
              <a:latin typeface="Franklin Gothic Demi Cond" panose="020B07060304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13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B32C91E1-9AD9-41BA-BD55-4F487E16117A}"/>
              </a:ext>
            </a:extLst>
          </p:cNvPr>
          <p:cNvSpPr/>
          <p:nvPr/>
        </p:nvSpPr>
        <p:spPr>
          <a:xfrm>
            <a:off x="195392" y="2119444"/>
            <a:ext cx="5654178" cy="4600138"/>
          </a:xfrm>
          <a:prstGeom prst="roundRect">
            <a:avLst/>
          </a:prstGeom>
          <a:solidFill>
            <a:schemeClr val="bg1"/>
          </a:solidFill>
          <a:ln>
            <a:solidFill>
              <a:srgbClr val="48809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ES">
              <a:solidFill>
                <a:schemeClr val="tx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760C7E8-7C7A-42EE-B47B-FB0AE1FB9858}"/>
              </a:ext>
            </a:extLst>
          </p:cNvPr>
          <p:cNvSpPr txBox="1"/>
          <p:nvPr/>
        </p:nvSpPr>
        <p:spPr>
          <a:xfrm>
            <a:off x="1699463" y="1027802"/>
            <a:ext cx="15055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400">
                <a:solidFill>
                  <a:srgbClr val="F39112"/>
                </a:solidFill>
                <a:latin typeface="Franklin Gothic Demi Cond" panose="020B0706030402020204" pitchFamily="34" charset="0"/>
              </a:rPr>
              <a:t>Limit</a:t>
            </a:r>
            <a:endParaRPr lang="es-ES" sz="5400">
              <a:solidFill>
                <a:srgbClr val="F39112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6A986CE-9ABC-40EE-9D54-F45A5129DB23}"/>
              </a:ext>
            </a:extLst>
          </p:cNvPr>
          <p:cNvSpPr txBox="1"/>
          <p:nvPr/>
        </p:nvSpPr>
        <p:spPr>
          <a:xfrm>
            <a:off x="1046560" y="2381054"/>
            <a:ext cx="3909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Limita las ventas a los primeros 10 registros. </a:t>
            </a:r>
            <a:endParaRPr lang="es-ES" b="1">
              <a:solidFill>
                <a:srgbClr val="48809C"/>
              </a:solidFill>
              <a:latin typeface="Franklin Gothic Demi Cond" panose="020B0706030402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6E29C1E-6293-41C6-BBB7-2689CFFEA235}"/>
              </a:ext>
            </a:extLst>
          </p:cNvPr>
          <p:cNvSpPr txBox="1"/>
          <p:nvPr/>
        </p:nvSpPr>
        <p:spPr>
          <a:xfrm>
            <a:off x="8495262" y="2662949"/>
            <a:ext cx="2778143" cy="1323439"/>
          </a:xfrm>
          <a:prstGeom prst="rect">
            <a:avLst/>
          </a:prstGeom>
          <a:noFill/>
          <a:ln w="38100">
            <a:solidFill>
              <a:srgbClr val="48809C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Como su nombre lo dice, limita el criterio de tu consulta.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latin typeface="Segoe UI Light" panose="020B0502040204020203" pitchFamily="34" charset="0"/>
                <a:cs typeface="Segoe UI Light" panose="020B0502040204020203" pitchFamily="34" charset="0"/>
              </a:rPr>
              <a:t>Su uso va al final de la instrucción o query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D33FF30-A45F-4CFA-8A56-5324B60FDA3B}"/>
              </a:ext>
            </a:extLst>
          </p:cNvPr>
          <p:cNvSpPr txBox="1"/>
          <p:nvPr/>
        </p:nvSpPr>
        <p:spPr>
          <a:xfrm>
            <a:off x="9019167" y="2119444"/>
            <a:ext cx="1721945" cy="523220"/>
          </a:xfrm>
          <a:prstGeom prst="rect">
            <a:avLst/>
          </a:prstGeom>
          <a:solidFill>
            <a:srgbClr val="F3911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800">
                <a:solidFill>
                  <a:schemeClr val="bg1"/>
                </a:solidFill>
                <a:latin typeface="Franklin Gothic Demi Cond" panose="020B0706030402020204" pitchFamily="34" charset="0"/>
              </a:rPr>
              <a:t>Importante</a:t>
            </a:r>
            <a:endParaRPr lang="es-ES" sz="280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12D2E1B0-319A-487F-8508-38EA415C6FAF}"/>
              </a:ext>
            </a:extLst>
          </p:cNvPr>
          <p:cNvSpPr/>
          <p:nvPr/>
        </p:nvSpPr>
        <p:spPr>
          <a:xfrm>
            <a:off x="461395" y="2381054"/>
            <a:ext cx="457200" cy="457200"/>
          </a:xfrm>
          <a:prstGeom prst="ellipse">
            <a:avLst/>
          </a:prstGeom>
          <a:solidFill>
            <a:srgbClr val="F391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Franklin Gothic Demi Cond" panose="020B0706030402020204" pitchFamily="34" charset="0"/>
              </a:rPr>
              <a:t>1</a:t>
            </a:r>
            <a:endParaRPr lang="es-ES" sz="2800">
              <a:latin typeface="Franklin Gothic Demi Cond" panose="020B0706030402020204" pitchFamily="34" charset="0"/>
            </a:endParaRPr>
          </a:p>
        </p:txBody>
      </p:sp>
      <p:sp>
        <p:nvSpPr>
          <p:cNvPr id="11" name="CuadroTexto 19">
            <a:extLst>
              <a:ext uri="{FF2B5EF4-FFF2-40B4-BE49-F238E27FC236}">
                <a16:creationId xmlns:a16="http://schemas.microsoft.com/office/drawing/2014/main" id="{A092F0F7-1DF3-425A-82A4-E891F9520ACC}"/>
              </a:ext>
            </a:extLst>
          </p:cNvPr>
          <p:cNvSpPr txBox="1"/>
          <p:nvPr/>
        </p:nvSpPr>
        <p:spPr>
          <a:xfrm>
            <a:off x="1015781" y="3573329"/>
            <a:ext cx="3909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Limita la venta a los registros entre el 50 y el 100.</a:t>
            </a:r>
            <a:endParaRPr lang="es-ES" b="1">
              <a:solidFill>
                <a:srgbClr val="48809C"/>
              </a:solidFill>
              <a:latin typeface="Franklin Gothic Demi Cond" panose="020B0706030402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13" name="Elipse 20">
            <a:extLst>
              <a:ext uri="{FF2B5EF4-FFF2-40B4-BE49-F238E27FC236}">
                <a16:creationId xmlns:a16="http://schemas.microsoft.com/office/drawing/2014/main" id="{4808000B-FABF-4A6A-9301-8C77CE416E84}"/>
              </a:ext>
            </a:extLst>
          </p:cNvPr>
          <p:cNvSpPr/>
          <p:nvPr/>
        </p:nvSpPr>
        <p:spPr>
          <a:xfrm>
            <a:off x="452048" y="3464782"/>
            <a:ext cx="457200" cy="457200"/>
          </a:xfrm>
          <a:prstGeom prst="ellipse">
            <a:avLst/>
          </a:prstGeom>
          <a:solidFill>
            <a:srgbClr val="F3911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Franklin Gothic Demi Cond" panose="020B0706030402020204" pitchFamily="34" charset="0"/>
              </a:rPr>
              <a:t>2</a:t>
            </a:r>
            <a:endParaRPr lang="es-ES" sz="2800">
              <a:latin typeface="Franklin Gothic Demi Cond" panose="020B07060304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134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563</Words>
  <Application>Microsoft Office PowerPoint</Application>
  <PresentationFormat>Panorámica</PresentationFormat>
  <Paragraphs>96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Franklin Gothic Demi Cond</vt:lpstr>
      <vt:lpstr>Segoe UI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Invitado</dc:creator>
  <cp:lastModifiedBy>CARLOS ANDRES GOMEZ VASCO</cp:lastModifiedBy>
  <cp:revision>33</cp:revision>
  <dcterms:created xsi:type="dcterms:W3CDTF">2020-12-03T04:45:08Z</dcterms:created>
  <dcterms:modified xsi:type="dcterms:W3CDTF">2025-09-08T23:52:07Z</dcterms:modified>
</cp:coreProperties>
</file>