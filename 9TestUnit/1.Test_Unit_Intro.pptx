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042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413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303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290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769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286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480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69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06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2335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526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801BD-F2C1-4FCB-889C-5FD334A03FB2}" type="datetimeFigureOut">
              <a:rPr lang="es-CO" smtClean="0"/>
              <a:t>21/10/2025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514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4F6B8-F65B-4934-89FD-AAC8A8C70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Pruebas Unitarias de Código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9394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11230-3C69-4D8A-B542-1B540DE7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Documentación: 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C19829-38CA-470A-BB01-EA46FADEC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Permite comentar una sola </a:t>
            </a:r>
            <a:r>
              <a:rPr lang="es-E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linea</a:t>
            </a:r>
            <a:r>
              <a:rPr lang="es-E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....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s-E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Comentarios con saltos de 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linea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......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poseee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varios saltos de 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linea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... 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pero no hay lio en "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skdfksf"comillas</a:t>
            </a: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dobles  dentro de los </a:t>
            </a:r>
            <a:r>
              <a:rPr lang="es-E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comenatruis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s-E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56381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94C04-1E54-48D5-A7D1-71CCEC5A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Docstring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86FDFB-764E-4FE2-A686-A66623A6EDD0}"/>
              </a:ext>
            </a:extLst>
          </p:cNvPr>
          <p:cNvSpPr txBox="1"/>
          <p:nvPr/>
        </p:nvSpPr>
        <p:spPr>
          <a:xfrm>
            <a:off x="3752555" y="306566"/>
            <a:ext cx="738905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#Docstring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sz="2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2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CO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CO" sz="2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es-CO" sz="2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 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suna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función que revisa si una cadena es o no un 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sentence:string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bool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Es importante recordar que el comentario se almacena en el atributo __</a:t>
            </a:r>
            <a:r>
              <a:rPr lang="es-CO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__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s-CO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CO" sz="2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CO" sz="2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CO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sz="2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[::</a:t>
            </a:r>
            <a:r>
              <a:rPr lang="es-CO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s-CO" sz="2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CO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6362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6E7F5-9ACD-4633-A285-8B38B984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Realicemos algunas pruebas en el Shell de Python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57AADD-6003-4B1F-BB20-E2DE639D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Prueba con el nombre de profe: “Profe Vasco”  no olviden desde el Shell llamar el modulo: </a:t>
            </a:r>
            <a:r>
              <a:rPr lang="es-ES" sz="2800" dirty="0" err="1"/>
              <a:t>from</a:t>
            </a:r>
            <a:r>
              <a:rPr lang="es-ES" sz="2800" dirty="0"/>
              <a:t> </a:t>
            </a:r>
            <a:r>
              <a:rPr lang="es-ES" sz="2800" dirty="0" err="1"/>
              <a:t>main</a:t>
            </a:r>
            <a:r>
              <a:rPr lang="es-ES" sz="2800" dirty="0"/>
              <a:t> </a:t>
            </a:r>
            <a:r>
              <a:rPr lang="es-ES" sz="2800" dirty="0" err="1"/>
              <a:t>import</a:t>
            </a:r>
            <a:r>
              <a:rPr lang="es-ES" sz="2800" dirty="0"/>
              <a:t> </a:t>
            </a:r>
            <a:r>
              <a:rPr lang="es-ES" sz="2800" dirty="0" err="1"/>
              <a:t>palindromo</a:t>
            </a:r>
            <a:r>
              <a:rPr lang="es-ES" sz="2800" dirty="0"/>
              <a:t> y luego llame la función.</a:t>
            </a:r>
            <a:endParaRPr lang="es-CO" sz="2800" dirty="0"/>
          </a:p>
          <a:p>
            <a:r>
              <a:rPr lang="es-ES" dirty="0"/>
              <a:t>Pruebe con las siguientes frases:</a:t>
            </a:r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Anita lava la tina”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A mamá Roma le aviva el amor a papá y a papá Roma le aviva el amor a mamá.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La ruta natural.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Amor a Roma.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Dábale</a:t>
            </a: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 arroz a la zorra el abad.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Amo la pacífica paloma.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No traces en ese cartón.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Sé verlas al revés.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Yo hago yoga hoy.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Somos o no somos.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9351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06D2322-708E-48DF-9C6C-E82FFA6D2A33}"/>
              </a:ext>
            </a:extLst>
          </p:cNvPr>
          <p:cNvSpPr txBox="1">
            <a:spLocks/>
          </p:cNvSpPr>
          <p:nvPr/>
        </p:nvSpPr>
        <p:spPr>
          <a:xfrm>
            <a:off x="638908" y="2924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 dirty="0"/>
              <a:t>Realicemos algunas pruebas en el Shell de Python</a:t>
            </a:r>
            <a:endParaRPr lang="es-CO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5FB2D5-D512-4218-98F2-5CF1D3C01722}"/>
              </a:ext>
            </a:extLst>
          </p:cNvPr>
          <p:cNvSpPr txBox="1"/>
          <p:nvPr/>
        </p:nvSpPr>
        <p:spPr>
          <a:xfrm>
            <a:off x="638908" y="1819980"/>
            <a:ext cx="60983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dirty="0"/>
              <a:t>¿Qué hace?</a:t>
            </a:r>
            <a:br>
              <a:rPr lang="es-CO" sz="3600" dirty="0"/>
            </a:br>
            <a:endParaRPr lang="es-CO" sz="3600" dirty="0"/>
          </a:p>
          <a:p>
            <a:r>
              <a:rPr lang="es-CO" sz="3600" dirty="0"/>
              <a:t>&gt;&gt;&gt; </a:t>
            </a:r>
            <a:r>
              <a:rPr lang="es-CO" sz="3600" dirty="0" err="1"/>
              <a:t>palindromo</a:t>
            </a:r>
            <a:r>
              <a:rPr lang="es-CO" sz="3600" dirty="0"/>
              <a:t>.__</a:t>
            </a:r>
            <a:r>
              <a:rPr lang="es-CO" sz="3600" dirty="0" err="1"/>
              <a:t>doc</a:t>
            </a:r>
            <a:r>
              <a:rPr lang="es-CO" sz="3600" dirty="0"/>
              <a:t>__</a:t>
            </a:r>
          </a:p>
          <a:p>
            <a:endParaRPr lang="es-CO" sz="3600" dirty="0"/>
          </a:p>
          <a:p>
            <a:r>
              <a:rPr lang="es-CO" sz="3600" dirty="0"/>
              <a:t>¿Qué hace?</a:t>
            </a:r>
          </a:p>
          <a:p>
            <a:endParaRPr lang="es-CO" sz="3600" dirty="0"/>
          </a:p>
          <a:p>
            <a:r>
              <a:rPr lang="es-CO" sz="3600" dirty="0"/>
              <a:t>&gt;&gt;&gt; </a:t>
            </a:r>
            <a:r>
              <a:rPr lang="es-CO" sz="3600" dirty="0" err="1"/>
              <a:t>help</a:t>
            </a:r>
            <a:r>
              <a:rPr lang="es-CO" sz="3600" dirty="0"/>
              <a:t>(</a:t>
            </a:r>
            <a:r>
              <a:rPr lang="es-CO" sz="3600" dirty="0" err="1"/>
              <a:t>palindromo</a:t>
            </a:r>
            <a:r>
              <a:rPr lang="es-CO" sz="3600" dirty="0"/>
              <a:t>.__</a:t>
            </a:r>
            <a:r>
              <a:rPr lang="es-CO" sz="3600" dirty="0" err="1"/>
              <a:t>doc</a:t>
            </a:r>
            <a:r>
              <a:rPr lang="es-CO" sz="3600" dirty="0"/>
              <a:t>__)</a:t>
            </a:r>
          </a:p>
          <a:p>
            <a:endParaRPr lang="es-CO" sz="3600" dirty="0"/>
          </a:p>
        </p:txBody>
      </p:sp>
    </p:spTree>
    <p:extLst>
      <p:ext uri="{BB962C8B-B14F-4D97-AF65-F5344CB8AC3E}">
        <p14:creationId xmlns:p14="http://schemas.microsoft.com/office/powerpoint/2010/main" val="211033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1A191-8020-4A55-AECC-95FD9E48D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34" y="182245"/>
            <a:ext cx="10515600" cy="1325563"/>
          </a:xfrm>
        </p:spPr>
        <p:txBody>
          <a:bodyPr/>
          <a:lstStyle/>
          <a:p>
            <a:r>
              <a:rPr lang="es-ES" dirty="0"/>
              <a:t>FORMATO DE DOCSTRING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ADCA90-D4AB-411E-A17A-EA77CA480706}"/>
              </a:ext>
            </a:extLst>
          </p:cNvPr>
          <p:cNvSpPr txBox="1"/>
          <p:nvPr/>
        </p:nvSpPr>
        <p:spPr>
          <a:xfrm>
            <a:off x="261425" y="1322229"/>
            <a:ext cx="602683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0">
                <a:solidFill>
                  <a:srgbClr val="6A9955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es-ES" dirty="0" err="1">
                <a:solidFill>
                  <a:srgbClr val="569CD6"/>
                </a:solidFill>
              </a:rPr>
              <a:t>def</a:t>
            </a:r>
            <a:r>
              <a:rPr lang="es-ES" dirty="0">
                <a:solidFill>
                  <a:srgbClr val="569CD6"/>
                </a:solidFill>
              </a:rPr>
              <a:t> </a:t>
            </a:r>
            <a:r>
              <a:rPr lang="es-ES" dirty="0" err="1">
                <a:solidFill>
                  <a:srgbClr val="FFFF00"/>
                </a:solidFill>
              </a:rPr>
              <a:t>nombre_de_la_funcion</a:t>
            </a:r>
            <a:r>
              <a:rPr lang="es-ES" dirty="0">
                <a:solidFill>
                  <a:srgbClr val="569CD6"/>
                </a:solidFill>
              </a:rPr>
              <a:t>(</a:t>
            </a:r>
            <a:r>
              <a:rPr lang="es-ES" dirty="0" err="1">
                <a:solidFill>
                  <a:srgbClr val="569CD6"/>
                </a:solidFill>
              </a:rPr>
              <a:t>parametros</a:t>
            </a:r>
            <a:r>
              <a:rPr lang="es-ES" dirty="0">
                <a:solidFill>
                  <a:srgbClr val="569CD6"/>
                </a:solidFill>
              </a:rPr>
              <a:t>):</a:t>
            </a:r>
          </a:p>
          <a:p>
            <a:r>
              <a:rPr lang="es-ES" dirty="0"/>
              <a:t>    </a:t>
            </a:r>
            <a:r>
              <a:rPr lang="es-ES" dirty="0">
                <a:solidFill>
                  <a:srgbClr val="CE9178"/>
                </a:solidFill>
              </a:rPr>
              <a:t>"""</a:t>
            </a:r>
          </a:p>
          <a:p>
            <a:r>
              <a:rPr lang="es-ES" dirty="0">
                <a:solidFill>
                  <a:srgbClr val="CE9178"/>
                </a:solidFill>
              </a:rPr>
              <a:t>    Descripción de la función</a:t>
            </a:r>
          </a:p>
          <a:p>
            <a:endParaRPr lang="es-ES" dirty="0">
              <a:solidFill>
                <a:srgbClr val="CE9178"/>
              </a:solidFill>
            </a:endParaRPr>
          </a:p>
          <a:p>
            <a:r>
              <a:rPr lang="es-ES" dirty="0">
                <a:solidFill>
                  <a:srgbClr val="CE9178"/>
                </a:solidFill>
              </a:rPr>
              <a:t>    Parámetros:</a:t>
            </a:r>
          </a:p>
          <a:p>
            <a:r>
              <a:rPr lang="es-ES" dirty="0">
                <a:solidFill>
                  <a:srgbClr val="CE9178"/>
                </a:solidFill>
              </a:rPr>
              <a:t>    - parametro1: descripción del parámetro</a:t>
            </a:r>
          </a:p>
          <a:p>
            <a:r>
              <a:rPr lang="es-ES" dirty="0">
                <a:solidFill>
                  <a:srgbClr val="CE9178"/>
                </a:solidFill>
              </a:rPr>
              <a:t>    - parametro2: descripción del parámetro</a:t>
            </a:r>
          </a:p>
          <a:p>
            <a:endParaRPr lang="es-ES" dirty="0">
              <a:solidFill>
                <a:srgbClr val="CE9178"/>
              </a:solidFill>
            </a:endParaRPr>
          </a:p>
          <a:p>
            <a:r>
              <a:rPr lang="es-ES" dirty="0">
                <a:solidFill>
                  <a:srgbClr val="CE9178"/>
                </a:solidFill>
              </a:rPr>
              <a:t>    Retorna:</a:t>
            </a:r>
          </a:p>
          <a:p>
            <a:r>
              <a:rPr lang="es-ES" dirty="0">
                <a:solidFill>
                  <a:srgbClr val="CE9178"/>
                </a:solidFill>
              </a:rPr>
              <a:t>    - </a:t>
            </a:r>
            <a:r>
              <a:rPr lang="es-ES" dirty="0" err="1">
                <a:solidFill>
                  <a:srgbClr val="CE9178"/>
                </a:solidFill>
              </a:rPr>
              <a:t>tipo_de_retorno</a:t>
            </a:r>
            <a:r>
              <a:rPr lang="es-ES" dirty="0">
                <a:solidFill>
                  <a:srgbClr val="CE9178"/>
                </a:solidFill>
              </a:rPr>
              <a:t>: descripción del tipo de retorno</a:t>
            </a:r>
          </a:p>
          <a:p>
            <a:r>
              <a:rPr lang="es-ES" dirty="0">
                <a:solidFill>
                  <a:srgbClr val="CE9178"/>
                </a:solidFill>
              </a:rPr>
              <a:t>    """</a:t>
            </a:r>
          </a:p>
          <a:p>
            <a:r>
              <a:rPr lang="es-ES" dirty="0">
                <a:solidFill>
                  <a:srgbClr val="FFFF00"/>
                </a:solidFill>
              </a:rPr>
              <a:t>    # Cuerpo de la función</a:t>
            </a:r>
            <a:endParaRPr lang="es-CO" dirty="0">
              <a:solidFill>
                <a:srgbClr val="FFFF0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77B6CF-E7B5-4D08-858F-B74C1CC381F4}"/>
              </a:ext>
            </a:extLst>
          </p:cNvPr>
          <p:cNvSpPr txBox="1"/>
          <p:nvPr/>
        </p:nvSpPr>
        <p:spPr>
          <a:xfrm>
            <a:off x="6288258" y="2137837"/>
            <a:ext cx="56423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s-ES" sz="2800" b="0" i="0" dirty="0">
                <a:solidFill>
                  <a:srgbClr val="B5B5B5"/>
                </a:solidFill>
                <a:effectLst/>
                <a:latin typeface="Segoe UI" panose="020B0502040204020203" pitchFamily="34" charset="0"/>
              </a:rPr>
              <a:t>Una breve descripción de la función.</a:t>
            </a:r>
          </a:p>
          <a:p>
            <a:pPr algn="l">
              <a:buFont typeface="+mj-lt"/>
              <a:buAutoNum type="arabicPeriod"/>
            </a:pPr>
            <a:r>
              <a:rPr lang="es-ES" sz="2800" b="0" i="0" dirty="0">
                <a:solidFill>
                  <a:srgbClr val="B5B5B5"/>
                </a:solidFill>
                <a:effectLst/>
                <a:latin typeface="Segoe UI" panose="020B0502040204020203" pitchFamily="34" charset="0"/>
              </a:rPr>
              <a:t>Descripción de los parámetros (si los hay).</a:t>
            </a:r>
          </a:p>
          <a:p>
            <a:pPr algn="l">
              <a:buFont typeface="+mj-lt"/>
              <a:buAutoNum type="arabicPeriod"/>
            </a:pPr>
            <a:r>
              <a:rPr lang="es-ES" sz="2800" b="0" i="0" dirty="0">
                <a:solidFill>
                  <a:srgbClr val="B5B5B5"/>
                </a:solidFill>
                <a:effectLst/>
                <a:latin typeface="Segoe UI" panose="020B0502040204020203" pitchFamily="34" charset="0"/>
              </a:rPr>
              <a:t>Descripción del valor de retorno (si lo hay).</a:t>
            </a:r>
          </a:p>
          <a:p>
            <a:pPr algn="l">
              <a:buFont typeface="+mj-lt"/>
              <a:buAutoNum type="arabicPeriod"/>
            </a:pPr>
            <a:r>
              <a:rPr lang="es-ES" sz="2800" b="0" i="0" dirty="0">
                <a:solidFill>
                  <a:srgbClr val="B5B5B5"/>
                </a:solidFill>
                <a:effectLst/>
                <a:latin typeface="Segoe UI" panose="020B0502040204020203" pitchFamily="34" charset="0"/>
              </a:rPr>
              <a:t>Información sobre excepciones (si las hay).</a:t>
            </a:r>
          </a:p>
        </p:txBody>
      </p:sp>
    </p:spTree>
    <p:extLst>
      <p:ext uri="{BB962C8B-B14F-4D97-AF65-F5344CB8AC3E}">
        <p14:creationId xmlns:p14="http://schemas.microsoft.com/office/powerpoint/2010/main" val="373854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90CC9-7747-4079-B818-A4E70A88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0" y="0"/>
            <a:ext cx="2467707" cy="1325563"/>
          </a:xfrm>
        </p:spPr>
        <p:txBody>
          <a:bodyPr/>
          <a:lstStyle/>
          <a:p>
            <a:r>
              <a:rPr lang="es-ES" dirty="0"/>
              <a:t>Ejemplo: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C60F33C-18E5-43BD-8C81-3A5A1E9B9E97}"/>
              </a:ext>
            </a:extLst>
          </p:cNvPr>
          <p:cNvSpPr txBox="1"/>
          <p:nvPr/>
        </p:nvSpPr>
        <p:spPr>
          <a:xfrm>
            <a:off x="671733" y="784307"/>
            <a:ext cx="99212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def</a:t>
            </a:r>
            <a:r>
              <a:rPr lang="es-CO" sz="2800" dirty="0"/>
              <a:t> </a:t>
            </a:r>
            <a:r>
              <a:rPr lang="es-CO" sz="2800" dirty="0" err="1"/>
              <a:t>calcular_promedio</a:t>
            </a:r>
            <a:r>
              <a:rPr lang="es-CO" sz="2800" dirty="0"/>
              <a:t>(lista):</a:t>
            </a:r>
          </a:p>
          <a:p>
            <a:r>
              <a:rPr lang="es-CO" sz="2800" dirty="0"/>
              <a:t>    '''</a:t>
            </a:r>
          </a:p>
          <a:p>
            <a:r>
              <a:rPr lang="es-CO" sz="2800" dirty="0"/>
              <a:t>    Esta función calcula el promedio de una lista de números.</a:t>
            </a:r>
          </a:p>
          <a:p>
            <a:endParaRPr lang="es-CO" sz="2800" dirty="0"/>
          </a:p>
          <a:p>
            <a:r>
              <a:rPr lang="es-CO" sz="2800" dirty="0"/>
              <a:t>    </a:t>
            </a:r>
            <a:r>
              <a:rPr lang="es-CO" sz="2800" dirty="0" err="1"/>
              <a:t>Args</a:t>
            </a:r>
            <a:r>
              <a:rPr lang="es-CO" sz="2800" dirty="0"/>
              <a:t>:</a:t>
            </a:r>
          </a:p>
          <a:p>
            <a:r>
              <a:rPr lang="es-CO" sz="2800" dirty="0"/>
              <a:t>        lista (</a:t>
            </a:r>
            <a:r>
              <a:rPr lang="es-CO" sz="2800" dirty="0" err="1"/>
              <a:t>list</a:t>
            </a:r>
            <a:r>
              <a:rPr lang="es-CO" sz="2800" dirty="0"/>
              <a:t>): Una lista de números para calcular el promedio.</a:t>
            </a:r>
          </a:p>
          <a:p>
            <a:endParaRPr lang="es-CO" sz="2800" dirty="0"/>
          </a:p>
          <a:p>
            <a:r>
              <a:rPr lang="es-CO" sz="2800" dirty="0"/>
              <a:t>    </a:t>
            </a:r>
            <a:r>
              <a:rPr lang="es-CO" sz="2800" dirty="0" err="1"/>
              <a:t>Returns</a:t>
            </a:r>
            <a:r>
              <a:rPr lang="es-CO" sz="2800" dirty="0"/>
              <a:t>:</a:t>
            </a:r>
          </a:p>
          <a:p>
            <a:r>
              <a:rPr lang="es-CO" sz="2800" dirty="0"/>
              <a:t>        </a:t>
            </a:r>
            <a:r>
              <a:rPr lang="es-CO" sz="2800" dirty="0" err="1"/>
              <a:t>float</a:t>
            </a:r>
            <a:r>
              <a:rPr lang="es-CO" sz="2800" dirty="0"/>
              <a:t>: El promedio de los números en la lista.</a:t>
            </a:r>
          </a:p>
          <a:p>
            <a:r>
              <a:rPr lang="es-CO" sz="2800" dirty="0"/>
              <a:t>    '''</a:t>
            </a:r>
          </a:p>
          <a:p>
            <a:r>
              <a:rPr lang="es-CO" sz="2800" dirty="0"/>
              <a:t>    suma = sum(lista)</a:t>
            </a:r>
          </a:p>
          <a:p>
            <a:r>
              <a:rPr lang="es-CO" sz="2800" dirty="0"/>
              <a:t>    promedio = suma / </a:t>
            </a:r>
            <a:r>
              <a:rPr lang="es-CO" sz="2800" dirty="0" err="1"/>
              <a:t>len</a:t>
            </a:r>
            <a:r>
              <a:rPr lang="es-CO" sz="2800" dirty="0"/>
              <a:t>(lista)</a:t>
            </a:r>
          </a:p>
          <a:p>
            <a:r>
              <a:rPr lang="es-CO" sz="2800" dirty="0"/>
              <a:t>    </a:t>
            </a:r>
            <a:r>
              <a:rPr lang="es-CO" sz="2800" dirty="0" err="1"/>
              <a:t>return</a:t>
            </a:r>
            <a:r>
              <a:rPr lang="es-CO" sz="2800" dirty="0"/>
              <a:t> promedio</a:t>
            </a:r>
          </a:p>
        </p:txBody>
      </p:sp>
    </p:spTree>
    <p:extLst>
      <p:ext uri="{BB962C8B-B14F-4D97-AF65-F5344CB8AC3E}">
        <p14:creationId xmlns:p14="http://schemas.microsoft.com/office/powerpoint/2010/main" val="321047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ADA14-F743-48B3-A150-FD276362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de Módulos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F75437C-CA2A-401C-B08C-4FEB326F013F}"/>
              </a:ext>
            </a:extLst>
          </p:cNvPr>
          <p:cNvSpPr txBox="1"/>
          <p:nvPr/>
        </p:nvSpPr>
        <p:spPr>
          <a:xfrm>
            <a:off x="559189" y="1278044"/>
            <a:ext cx="1025886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200" dirty="0"/>
              <a:t>"""</a:t>
            </a:r>
          </a:p>
          <a:p>
            <a:r>
              <a:rPr lang="es-CO" sz="2200" dirty="0"/>
              <a:t>Módulo de operaciones matemáticas.</a:t>
            </a:r>
          </a:p>
          <a:p>
            <a:endParaRPr lang="es-CO" sz="2200" dirty="0"/>
          </a:p>
          <a:p>
            <a:r>
              <a:rPr lang="es-CO" sz="2200" dirty="0"/>
              <a:t>Este módulo proporciona funciones básicas para realizar operaciones matemáticas como suma, resta, multiplicación y división.</a:t>
            </a:r>
          </a:p>
          <a:p>
            <a:endParaRPr lang="es-CO" sz="2200" dirty="0"/>
          </a:p>
          <a:p>
            <a:r>
              <a:rPr lang="es-CO" sz="2200" dirty="0"/>
              <a:t>Funciones:</a:t>
            </a:r>
          </a:p>
          <a:p>
            <a:r>
              <a:rPr lang="es-CO" sz="2200" dirty="0"/>
              <a:t>- suma(a, b): Devuelve la suma de a y b.</a:t>
            </a:r>
          </a:p>
          <a:p>
            <a:r>
              <a:rPr lang="es-CO" sz="2200" dirty="0"/>
              <a:t>- resta(a, b): Devuelve la resta de b de a.</a:t>
            </a:r>
          </a:p>
          <a:p>
            <a:r>
              <a:rPr lang="es-CO" sz="2200" dirty="0"/>
              <a:t>- multiplicar(a, b): Devuelve el producto de a y b.</a:t>
            </a:r>
          </a:p>
          <a:p>
            <a:r>
              <a:rPr lang="es-CO" sz="2200" dirty="0"/>
              <a:t>- dividir(a, b): Devuelve la división de a entre b.</a:t>
            </a:r>
          </a:p>
          <a:p>
            <a:r>
              <a:rPr lang="es-CO" sz="2200" dirty="0"/>
              <a:t>"""</a:t>
            </a:r>
          </a:p>
          <a:p>
            <a:endParaRPr lang="es-CO" sz="2200" dirty="0"/>
          </a:p>
          <a:p>
            <a:r>
              <a:rPr lang="es-CO" sz="2200" dirty="0" err="1"/>
              <a:t>def</a:t>
            </a:r>
            <a:r>
              <a:rPr lang="es-CO" sz="2200" dirty="0"/>
              <a:t> suma(a, b):</a:t>
            </a:r>
          </a:p>
          <a:p>
            <a:r>
              <a:rPr lang="es-CO" sz="2200" dirty="0"/>
              <a:t>## ...</a:t>
            </a:r>
          </a:p>
          <a:p>
            <a:r>
              <a:rPr lang="es-CO" sz="2200" dirty="0"/>
              <a:t>## </a:t>
            </a:r>
            <a:r>
              <a:rPr lang="es-CO" sz="2200" dirty="0" err="1"/>
              <a:t>aqui</a:t>
            </a:r>
            <a:r>
              <a:rPr lang="es-CO" sz="2200" dirty="0"/>
              <a:t> el resto del código del módulo</a:t>
            </a:r>
          </a:p>
        </p:txBody>
      </p:sp>
    </p:spTree>
    <p:extLst>
      <p:ext uri="{BB962C8B-B14F-4D97-AF65-F5344CB8AC3E}">
        <p14:creationId xmlns:p14="http://schemas.microsoft.com/office/powerpoint/2010/main" val="272057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53F04-994D-4440-9793-748A8C12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de Clases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5AC3F1-007B-4DB3-98C8-03C4EBAA6A05}"/>
              </a:ext>
            </a:extLst>
          </p:cNvPr>
          <p:cNvSpPr txBox="1"/>
          <p:nvPr/>
        </p:nvSpPr>
        <p:spPr>
          <a:xfrm>
            <a:off x="713935" y="1504130"/>
            <a:ext cx="60983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/>
              <a:t>class</a:t>
            </a:r>
            <a:r>
              <a:rPr lang="es-CO" sz="2800" dirty="0"/>
              <a:t> Coche:</a:t>
            </a:r>
          </a:p>
          <a:p>
            <a:r>
              <a:rPr lang="es-CO" sz="2800" dirty="0"/>
              <a:t>    """</a:t>
            </a:r>
          </a:p>
          <a:p>
            <a:r>
              <a:rPr lang="es-CO" sz="2800" dirty="0"/>
              <a:t>    Representa un coche.</a:t>
            </a:r>
          </a:p>
          <a:p>
            <a:r>
              <a:rPr lang="es-CO" sz="2800" dirty="0"/>
              <a:t>    </a:t>
            </a:r>
          </a:p>
          <a:p>
            <a:r>
              <a:rPr lang="es-CO" sz="2800" dirty="0"/>
              <a:t>    Atributos:</a:t>
            </a:r>
          </a:p>
          <a:p>
            <a:r>
              <a:rPr lang="es-CO" sz="2800" dirty="0"/>
              <a:t>    marca (</a:t>
            </a:r>
            <a:r>
              <a:rPr lang="es-CO" sz="2800" dirty="0" err="1"/>
              <a:t>str</a:t>
            </a:r>
            <a:r>
              <a:rPr lang="es-CO" sz="2800" dirty="0"/>
              <a:t>): La marca del coche.</a:t>
            </a:r>
          </a:p>
          <a:p>
            <a:r>
              <a:rPr lang="es-CO" sz="2800" dirty="0"/>
              <a:t>    modelo (</a:t>
            </a:r>
            <a:r>
              <a:rPr lang="es-CO" sz="2800" dirty="0" err="1"/>
              <a:t>str</a:t>
            </a:r>
            <a:r>
              <a:rPr lang="es-CO" sz="2800" dirty="0"/>
              <a:t>): El modelo del coche.</a:t>
            </a:r>
          </a:p>
          <a:p>
            <a:r>
              <a:rPr lang="es-CO" sz="2800" dirty="0"/>
              <a:t>    """</a:t>
            </a:r>
          </a:p>
          <a:p>
            <a:endParaRPr lang="es-CO" sz="2800" dirty="0"/>
          </a:p>
          <a:p>
            <a:r>
              <a:rPr lang="es-CO" sz="2800" dirty="0"/>
              <a:t>## ...</a:t>
            </a:r>
          </a:p>
          <a:p>
            <a:r>
              <a:rPr lang="es-CO" sz="2800" dirty="0"/>
              <a:t>## </a:t>
            </a:r>
            <a:r>
              <a:rPr lang="es-CO" sz="2800" dirty="0" err="1"/>
              <a:t>aqui</a:t>
            </a:r>
            <a:r>
              <a:rPr lang="es-CO" sz="2800" dirty="0"/>
              <a:t> el resto del código de la clase</a:t>
            </a:r>
          </a:p>
        </p:txBody>
      </p:sp>
    </p:spTree>
    <p:extLst>
      <p:ext uri="{BB962C8B-B14F-4D97-AF65-F5344CB8AC3E}">
        <p14:creationId xmlns:p14="http://schemas.microsoft.com/office/powerpoint/2010/main" val="338762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Visual Studio Code, el editor de código preferido por los desarrolladores -  MuyLinux">
            <a:extLst>
              <a:ext uri="{FF2B5EF4-FFF2-40B4-BE49-F238E27FC236}">
                <a16:creationId xmlns:a16="http://schemas.microsoft.com/office/drawing/2014/main" id="{B354C8F2-D0E4-4A7A-BCFB-72F702FA1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08" y="689316"/>
            <a:ext cx="7144591" cy="476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C2872C2-1294-4558-8B71-570D22E63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745" y="3263559"/>
            <a:ext cx="626745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27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2C168-8ADE-4704-A467-5A16B6DF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628" y="2447143"/>
            <a:ext cx="2467707" cy="1325563"/>
          </a:xfrm>
        </p:spPr>
        <p:txBody>
          <a:bodyPr/>
          <a:lstStyle/>
          <a:p>
            <a:r>
              <a:rPr lang="es-ES" dirty="0"/>
              <a:t>Modulo DOCTEST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DDB0A4-4EC5-46E9-BD97-840969DD55B6}"/>
              </a:ext>
            </a:extLst>
          </p:cNvPr>
          <p:cNvSpPr txBox="1"/>
          <p:nvPr/>
        </p:nvSpPr>
        <p:spPr>
          <a:xfrm>
            <a:off x="3376247" y="98870"/>
            <a:ext cx="858246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CO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es-CO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suna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función que revisa si una cadena es o no un 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sentence:string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bool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Es importante recordar que el comentario se almacena en el atributo __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__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Examples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("Anita lava la tina")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True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&gt;&gt;&gt;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palindromo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("Profe Vasco")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False   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CO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CO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sentence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[::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s-C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33260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2C168-8ADE-4704-A467-5A16B6DF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628" y="379193"/>
            <a:ext cx="5168704" cy="1325563"/>
          </a:xfrm>
        </p:spPr>
        <p:txBody>
          <a:bodyPr/>
          <a:lstStyle/>
          <a:p>
            <a:r>
              <a:rPr lang="es-ES" dirty="0"/>
              <a:t>Modulo DOCTEST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96110E-28DD-4D88-982D-766A35262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196" r="43346" b="48466"/>
          <a:stretch/>
        </p:blipFill>
        <p:spPr>
          <a:xfrm>
            <a:off x="240030" y="1452173"/>
            <a:ext cx="11711939" cy="22476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4B0208-7894-46AE-BC22-394709DD1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61" t="60518" r="18769" b="34557"/>
          <a:stretch/>
        </p:blipFill>
        <p:spPr>
          <a:xfrm>
            <a:off x="281354" y="5068203"/>
            <a:ext cx="11910646" cy="4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50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1BA57-F084-4392-959E-4DC700A9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Objetos Documentables</a:t>
            </a:r>
            <a:endParaRPr lang="es-CO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0209D5D-481E-47B0-AF83-B9918E1E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385235"/>
              </p:ext>
            </p:extLst>
          </p:nvPr>
        </p:nvGraphicFramePr>
        <p:xfrm>
          <a:off x="838200" y="1690688"/>
          <a:ext cx="10515600" cy="4114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749818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4791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0465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082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O" b="1"/>
                        <a:t>Tipo de objeto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/>
                        <a:t>Ejemplo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/>
                        <a:t>¿Documentable?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Comentario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66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Módulos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 dirty="0" err="1"/>
                        <a:t>import</a:t>
                      </a:r>
                      <a:r>
                        <a:rPr lang="es-CO" b="0" dirty="0"/>
                        <a:t> </a:t>
                      </a:r>
                      <a:r>
                        <a:rPr lang="es-CO" b="0" dirty="0" err="1"/>
                        <a:t>math</a:t>
                      </a:r>
                      <a:r>
                        <a:rPr lang="es-CO" b="0" dirty="0"/>
                        <a:t> o uno creado por 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0"/>
                        <a:t>Puedes documentar qué contiene el módulo.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08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/>
                        <a:t>Clases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 dirty="0" err="1"/>
                        <a:t>class</a:t>
                      </a:r>
                      <a:r>
                        <a:rPr lang="es-CO" b="0" dirty="0"/>
                        <a:t> Persona: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0"/>
                        <a:t>Explica qué representa la clase y sus atributos.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688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/>
                        <a:t>Métodos y funciones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/>
                        <a:t>def sumar(a,b):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0"/>
                        <a:t>Describe parámetros, retorno y propósito.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62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/>
                        <a:t>Módulos integrados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/>
                        <a:t>print, len, dict,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 dirty="0"/>
                        <a:t>✅ (ya vienen documentados)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0" dirty="0"/>
                        <a:t>Puedes acceder con </a:t>
                      </a:r>
                      <a:r>
                        <a:rPr lang="es-ES" b="0" dirty="0" err="1"/>
                        <a:t>help</a:t>
                      </a:r>
                      <a:r>
                        <a:rPr lang="es-ES" b="0" dirty="0"/>
                        <a:t>() o .__</a:t>
                      </a:r>
                      <a:r>
                        <a:rPr lang="es-ES" b="0" dirty="0" err="1"/>
                        <a:t>doc</a:t>
                      </a:r>
                      <a:r>
                        <a:rPr lang="es-ES" b="0" dirty="0"/>
                        <a:t>__.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81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/>
                        <a:t>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/>
                        <a:t>x =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b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b="0" dirty="0"/>
                        <a:t>Las variables no tienen atributo __</a:t>
                      </a:r>
                      <a:r>
                        <a:rPr lang="es-ES" b="0" dirty="0" err="1"/>
                        <a:t>doc</a:t>
                      </a:r>
                      <a:r>
                        <a:rPr lang="es-ES" b="0" dirty="0"/>
                        <a:t>__, aunque se pueden documentar en comentarios.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01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6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1D23A-E411-4373-87D8-7DBE01B35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ES" dirty="0"/>
              <a:t>Ejemplos: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07DA6B-8754-4D06-85E8-B2E6ED392369}"/>
              </a:ext>
            </a:extLst>
          </p:cNvPr>
          <p:cNvSpPr txBox="1"/>
          <p:nvPr/>
        </p:nvSpPr>
        <p:spPr>
          <a:xfrm>
            <a:off x="671731" y="1245029"/>
            <a:ext cx="496941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 err="1"/>
              <a:t>def</a:t>
            </a:r>
            <a:r>
              <a:rPr lang="es-CO" sz="2400" dirty="0"/>
              <a:t> saludar(nombre: </a:t>
            </a:r>
            <a:r>
              <a:rPr lang="es-CO" sz="2400" dirty="0" err="1"/>
              <a:t>str</a:t>
            </a:r>
            <a:r>
              <a:rPr lang="es-CO" sz="2400" dirty="0"/>
              <a:t>) -&gt; </a:t>
            </a:r>
            <a:r>
              <a:rPr lang="es-CO" sz="2400" dirty="0" err="1"/>
              <a:t>str</a:t>
            </a:r>
            <a:r>
              <a:rPr lang="es-CO" sz="2400" dirty="0"/>
              <a:t>:</a:t>
            </a:r>
          </a:p>
          <a:p>
            <a:r>
              <a:rPr lang="es-CO" sz="2400" dirty="0"/>
              <a:t>    """Devuelve un saludo personalizado.</a:t>
            </a:r>
          </a:p>
          <a:p>
            <a:endParaRPr lang="es-CO" sz="2400" dirty="0"/>
          </a:p>
          <a:p>
            <a:r>
              <a:rPr lang="es-CO" sz="2400" dirty="0"/>
              <a:t>    </a:t>
            </a:r>
            <a:r>
              <a:rPr lang="es-CO" sz="2400" dirty="0" err="1"/>
              <a:t>Args</a:t>
            </a:r>
            <a:r>
              <a:rPr lang="es-CO" sz="2400" dirty="0"/>
              <a:t>:</a:t>
            </a:r>
          </a:p>
          <a:p>
            <a:r>
              <a:rPr lang="es-CO" sz="2400" dirty="0"/>
              <a:t>        nombre (</a:t>
            </a:r>
            <a:r>
              <a:rPr lang="es-CO" sz="2400" dirty="0" err="1"/>
              <a:t>str</a:t>
            </a:r>
            <a:r>
              <a:rPr lang="es-CO" sz="2400" dirty="0"/>
              <a:t>): Nombre de la persona a saludar.</a:t>
            </a:r>
          </a:p>
          <a:p>
            <a:endParaRPr lang="es-CO" sz="2400" dirty="0"/>
          </a:p>
          <a:p>
            <a:r>
              <a:rPr lang="es-CO" sz="2400" dirty="0"/>
              <a:t>    </a:t>
            </a:r>
            <a:r>
              <a:rPr lang="es-CO" sz="2400" dirty="0" err="1"/>
              <a:t>Returns</a:t>
            </a:r>
            <a:r>
              <a:rPr lang="es-CO" sz="2400" dirty="0"/>
              <a:t>:</a:t>
            </a:r>
          </a:p>
          <a:p>
            <a:r>
              <a:rPr lang="es-CO" sz="2400" dirty="0"/>
              <a:t>        </a:t>
            </a:r>
            <a:r>
              <a:rPr lang="es-CO" sz="2400" dirty="0" err="1"/>
              <a:t>str</a:t>
            </a:r>
            <a:r>
              <a:rPr lang="es-CO" sz="2400" dirty="0"/>
              <a:t>: Mensaje con el saludo.</a:t>
            </a:r>
          </a:p>
          <a:p>
            <a:r>
              <a:rPr lang="es-CO" sz="2400" dirty="0"/>
              <a:t>    """</a:t>
            </a:r>
          </a:p>
          <a:p>
            <a:r>
              <a:rPr lang="es-CO" sz="2400" dirty="0"/>
              <a:t>    </a:t>
            </a:r>
            <a:r>
              <a:rPr lang="es-CO" sz="2400" dirty="0" err="1"/>
              <a:t>return</a:t>
            </a:r>
            <a:r>
              <a:rPr lang="es-CO" sz="2400" dirty="0"/>
              <a:t> </a:t>
            </a:r>
            <a:r>
              <a:rPr lang="es-CO" sz="2400" dirty="0" err="1"/>
              <a:t>f"Hola</a:t>
            </a:r>
            <a:r>
              <a:rPr lang="es-CO" sz="2400" dirty="0"/>
              <a:t>, {nombre}!"</a:t>
            </a:r>
          </a:p>
          <a:p>
            <a:endParaRPr lang="es-CO" sz="2400" dirty="0"/>
          </a:p>
          <a:p>
            <a:r>
              <a:rPr lang="es-CO" sz="2400" dirty="0" err="1"/>
              <a:t>print</a:t>
            </a:r>
            <a:r>
              <a:rPr lang="es-CO" sz="2400" dirty="0"/>
              <a:t>(saludar.__</a:t>
            </a:r>
            <a:r>
              <a:rPr lang="es-CO" sz="2400" dirty="0" err="1"/>
              <a:t>doc</a:t>
            </a:r>
            <a:r>
              <a:rPr lang="es-CO" sz="2400" dirty="0"/>
              <a:t>__)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70B074-524C-4775-8DAC-016584E9D2E7}"/>
              </a:ext>
            </a:extLst>
          </p:cNvPr>
          <p:cNvSpPr txBox="1"/>
          <p:nvPr/>
        </p:nvSpPr>
        <p:spPr>
          <a:xfrm>
            <a:off x="6333980" y="1872068"/>
            <a:ext cx="56505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 err="1"/>
              <a:t>class</a:t>
            </a:r>
            <a:r>
              <a:rPr lang="es-CO" sz="2400" dirty="0"/>
              <a:t> Persona:</a:t>
            </a:r>
          </a:p>
          <a:p>
            <a:r>
              <a:rPr lang="es-CO" sz="2400" dirty="0"/>
              <a:t>    """Representa a una persona con nombre y edad."""</a:t>
            </a:r>
          </a:p>
          <a:p>
            <a:r>
              <a:rPr lang="es-CO" sz="2400" dirty="0"/>
              <a:t>    </a:t>
            </a:r>
          </a:p>
          <a:p>
            <a:r>
              <a:rPr lang="es-CO" sz="2400" dirty="0"/>
              <a:t>    </a:t>
            </a:r>
            <a:r>
              <a:rPr lang="es-CO" sz="2400" dirty="0" err="1"/>
              <a:t>def</a:t>
            </a:r>
            <a:r>
              <a:rPr lang="es-CO" sz="2400" dirty="0"/>
              <a:t> __</a:t>
            </a:r>
            <a:r>
              <a:rPr lang="es-CO" sz="2400" dirty="0" err="1"/>
              <a:t>init</a:t>
            </a:r>
            <a:r>
              <a:rPr lang="es-CO" sz="2400" dirty="0"/>
              <a:t>__(</a:t>
            </a:r>
            <a:r>
              <a:rPr lang="es-CO" sz="2400" dirty="0" err="1"/>
              <a:t>self</a:t>
            </a:r>
            <a:r>
              <a:rPr lang="es-CO" sz="2400" dirty="0"/>
              <a:t>, nombre, edad):</a:t>
            </a:r>
          </a:p>
          <a:p>
            <a:r>
              <a:rPr lang="es-CO" sz="2400" dirty="0"/>
              <a:t>        """Inicializa una persona con nombre y edad."""</a:t>
            </a:r>
          </a:p>
          <a:p>
            <a:r>
              <a:rPr lang="es-CO" sz="2400" dirty="0"/>
              <a:t>        </a:t>
            </a:r>
            <a:r>
              <a:rPr lang="es-CO" sz="2400" dirty="0" err="1"/>
              <a:t>self.nombre</a:t>
            </a:r>
            <a:r>
              <a:rPr lang="es-CO" sz="2400" dirty="0"/>
              <a:t> = nombre</a:t>
            </a:r>
          </a:p>
          <a:p>
            <a:r>
              <a:rPr lang="es-CO" sz="2400" dirty="0"/>
              <a:t>        </a:t>
            </a:r>
            <a:r>
              <a:rPr lang="es-CO" sz="2400" dirty="0" err="1"/>
              <a:t>self.edad</a:t>
            </a:r>
            <a:r>
              <a:rPr lang="es-CO" sz="2400" dirty="0"/>
              <a:t> = edad</a:t>
            </a:r>
          </a:p>
        </p:txBody>
      </p:sp>
    </p:spTree>
    <p:extLst>
      <p:ext uri="{BB962C8B-B14F-4D97-AF65-F5344CB8AC3E}">
        <p14:creationId xmlns:p14="http://schemas.microsoft.com/office/powerpoint/2010/main" val="2557718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5E104-9FEF-4DED-A2B5-6D19692C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acceder a la documentación?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DCBE9-D921-473E-A284-3B8E0D9F5F47}"/>
              </a:ext>
            </a:extLst>
          </p:cNvPr>
          <p:cNvSpPr txBox="1"/>
          <p:nvPr/>
        </p:nvSpPr>
        <p:spPr>
          <a:xfrm>
            <a:off x="489032" y="1709570"/>
            <a:ext cx="60983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 err="1"/>
              <a:t>help</a:t>
            </a:r>
            <a:r>
              <a:rPr lang="es-CO" sz="3200" dirty="0"/>
              <a:t>(Objeto)</a:t>
            </a:r>
          </a:p>
          <a:p>
            <a:r>
              <a:rPr lang="es-CO" sz="3200" dirty="0"/>
              <a:t># o</a:t>
            </a:r>
          </a:p>
          <a:p>
            <a:r>
              <a:rPr lang="es-CO" sz="3200" dirty="0" err="1"/>
              <a:t>print</a:t>
            </a:r>
            <a:r>
              <a:rPr lang="es-CO" sz="3200" dirty="0"/>
              <a:t>(Objeto.__</a:t>
            </a:r>
            <a:r>
              <a:rPr lang="es-CO" sz="3200" dirty="0" err="1"/>
              <a:t>doc</a:t>
            </a:r>
            <a:r>
              <a:rPr lang="es-CO" sz="3200" dirty="0"/>
              <a:t>__)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A7DED6-C6CC-4B99-86C5-3B4593A30878}"/>
              </a:ext>
            </a:extLst>
          </p:cNvPr>
          <p:cNvSpPr txBox="1"/>
          <p:nvPr/>
        </p:nvSpPr>
        <p:spPr>
          <a:xfrm>
            <a:off x="5844947" y="4800436"/>
            <a:ext cx="60983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4400" dirty="0" err="1"/>
              <a:t>import</a:t>
            </a:r>
            <a:r>
              <a:rPr lang="es-CO" sz="4400" dirty="0"/>
              <a:t> </a:t>
            </a:r>
            <a:r>
              <a:rPr lang="es-CO" sz="4400" dirty="0" err="1"/>
              <a:t>math</a:t>
            </a:r>
            <a:endParaRPr lang="es-CO" sz="4400" dirty="0"/>
          </a:p>
          <a:p>
            <a:r>
              <a:rPr lang="es-CO" sz="4400" dirty="0" err="1"/>
              <a:t>print</a:t>
            </a:r>
            <a:r>
              <a:rPr lang="es-CO" sz="4400" dirty="0"/>
              <a:t>(math.</a:t>
            </a:r>
            <a:r>
              <a:rPr lang="es-CO" sz="4400" dirty="0" err="1"/>
              <a:t>sqrt</a:t>
            </a:r>
            <a:r>
              <a:rPr lang="es-CO" sz="4400" dirty="0"/>
              <a:t>.__</a:t>
            </a:r>
            <a:r>
              <a:rPr lang="es-CO" sz="4400" dirty="0" err="1"/>
              <a:t>doc</a:t>
            </a:r>
            <a:r>
              <a:rPr lang="es-CO" sz="4400" dirty="0"/>
              <a:t>__)</a:t>
            </a:r>
          </a:p>
        </p:txBody>
      </p:sp>
      <p:sp>
        <p:nvSpPr>
          <p:cNvPr id="8" name="Flecha: curvada hacia abajo 7">
            <a:extLst>
              <a:ext uri="{FF2B5EF4-FFF2-40B4-BE49-F238E27FC236}">
                <a16:creationId xmlns:a16="http://schemas.microsoft.com/office/drawing/2014/main" id="{58777006-8358-459D-BF6B-920AC3BD2400}"/>
              </a:ext>
            </a:extLst>
          </p:cNvPr>
          <p:cNvSpPr/>
          <p:nvPr/>
        </p:nvSpPr>
        <p:spPr>
          <a:xfrm rot="2026639">
            <a:off x="4303359" y="2422945"/>
            <a:ext cx="4091718" cy="1577898"/>
          </a:xfrm>
          <a:prstGeom prst="curvedDownArrow">
            <a:avLst>
              <a:gd name="adj1" fmla="val 13292"/>
              <a:gd name="adj2" fmla="val 71278"/>
              <a:gd name="adj3" fmla="val 694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914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75642-A5F6-4120-BDD6-2A647B86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 b="1" dirty="0"/>
              <a:t>Ejercicio</a:t>
            </a:r>
            <a:r>
              <a:rPr lang="es-ES" dirty="0"/>
              <a:t>:</a:t>
            </a: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1BB3F6-869E-43D2-8913-B1F26C943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71" y="1906132"/>
            <a:ext cx="1088956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Crear un archivo llamado calculadora.py.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Dentro del archivo, debe: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Escribir una </a:t>
            </a:r>
            <a:r>
              <a:rPr kumimoji="0" lang="es-CO" altLang="es-CO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docstring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módulo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que explique qué hace el archivo.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Crear una 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clase Calculadora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 su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docstring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Implementar un </a:t>
            </a: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método sumar(a, b)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 su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docstring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 final, imprimir las </a:t>
            </a:r>
            <a:r>
              <a:rPr kumimoji="0" lang="es-CO" altLang="es-CO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docstrings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desde otro archivo para verificar.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67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1118</Words>
  <Application>Microsoft Office PowerPoint</Application>
  <PresentationFormat>Panorámica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</vt:lpstr>
      <vt:lpstr>Calibri Light</vt:lpstr>
      <vt:lpstr>Consolas</vt:lpstr>
      <vt:lpstr>Segoe UI</vt:lpstr>
      <vt:lpstr>Office Theme</vt:lpstr>
      <vt:lpstr>Pruebas Unitarias de Código</vt:lpstr>
      <vt:lpstr>Documentación:  </vt:lpstr>
      <vt:lpstr>Docstring</vt:lpstr>
      <vt:lpstr>Realicemos algunas pruebas en el Shell de Python</vt:lpstr>
      <vt:lpstr>Presentación de PowerPoint</vt:lpstr>
      <vt:lpstr>FORMATO DE DOCSTRING</vt:lpstr>
      <vt:lpstr>Ejemplo:</vt:lpstr>
      <vt:lpstr>Documentación de Módulos</vt:lpstr>
      <vt:lpstr>Documentación de Clases</vt:lpstr>
      <vt:lpstr>Presentación de PowerPoint</vt:lpstr>
      <vt:lpstr>Modulo DOCTEST</vt:lpstr>
      <vt:lpstr>Modulo DOCTEST</vt:lpstr>
      <vt:lpstr>Objetos Documentables</vt:lpstr>
      <vt:lpstr>Ejemplos:</vt:lpstr>
      <vt:lpstr>¿Cómo acceder a la documentación?</vt:lpstr>
      <vt:lpstr>Ejercicio: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Unitarias de Código</dc:title>
  <dc:creator>CARLOS ANDRES GOMEZ VASCO</dc:creator>
  <cp:lastModifiedBy>CARLOS ANDRES GOMEZ VASCO</cp:lastModifiedBy>
  <cp:revision>9</cp:revision>
  <dcterms:created xsi:type="dcterms:W3CDTF">2025-10-21T00:55:42Z</dcterms:created>
  <dcterms:modified xsi:type="dcterms:W3CDTF">2025-10-22T00:50:52Z</dcterms:modified>
</cp:coreProperties>
</file>